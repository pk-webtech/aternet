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256" r:id="rId2"/>
    <p:sldId id="263" r:id="rId3"/>
    <p:sldId id="257" r:id="rId4"/>
    <p:sldId id="258" r:id="rId5"/>
    <p:sldId id="259" r:id="rId6"/>
    <p:sldId id="270" r:id="rId22"/>
    <p:sldId id="260" r:id="rId7"/>
    <p:sldId id="261" r:id="rId8"/>
    <p:sldId id="264" r:id="rId9"/>
    <p:sldId id="271" r:id="rId23"/>
    <p:sldId id="272" r:id="rId24"/>
    <p:sldId id="273" r:id="rId25"/>
    <p:sldId id="265" r:id="rId10"/>
    <p:sldId id="266" r:id="rId11"/>
    <p:sldId id="267" r:id="rId12"/>
    <p:sldId id="274" r:id="rId26"/>
    <p:sldId id="268" r:id="rId13"/>
    <p:sldId id="269" r:id="rId14"/>
    <p:sldId id="26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-1232" y="-1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interSettings" Target="printerSettings/printerSettings1.bin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E2E1-8886-43B2-B986-F2B06DAA2FAC}" type="datetimeFigureOut">
              <a:rPr lang="en-IN" smtClean="0"/>
              <a:t>05/10/26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FDF3-42B5-4A41-B75E-186C38908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forward pass left to right: F1 prepares the inputs, F2-F3 are in the backbone, F4 measures expert disagreement, F5-F7 are in the router, and F8 (next slide) is the decoder.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F8 is the decoder; F9-F10 are used during training; F11 and F14 in evaluation and comparison; F12 after training for calibration; F13 only for the simulated Vellore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nRMSE at each development stage. Middle: effect of removing each model part (red = clearly worse). Right: daytime coverage before and after calibration against the 80%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50F18A0-E201-1900-A139-E830DD3E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D0906B9-B1F6-B52E-2EE0-7595B1E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7A13AE1-F96E-D540-8DE1-8D903D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32F7EA-3EC9-99AF-13A9-22A3F8B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C71419B-73DB-15DA-D2EE-0FC01B4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B080259-8D20-E29B-4DC5-312C3DB0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101830E-3502-194A-88FA-DC3E0F1B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CF6703C-229C-43C6-0484-38EC263A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0CE344-6494-09A6-A5E4-811EEE0C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351A0E2-2B9B-B96E-A3FD-0B26BDDB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767CE67-8E8A-4D0D-42DF-DDC842B1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2BD8-A2C4-424B-809A-C64DDCC305D9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3A78C3E-C139-1FD1-979B-D7167995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932F297-889B-B694-6DD5-92F8A6AA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92C89C-FEA2-11F6-7988-ADD14A7B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0E5DE7B-A406-1142-36EA-1C1498740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4355A2B-361E-86CB-ABBE-C510D2B22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0DA5E84-A1E0-A1C4-F7E6-DA9E7B12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F4BC-B3A4-46AF-9AEC-8478EF1369D5}" type="datetime1">
              <a:rPr lang="en-IN" smtClean="0"/>
              <a:t>05/10/26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5DDA460-54C8-F2AC-C053-53FF3FA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E6F132A-BD40-58D2-CEEC-A1BA2B9E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2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05823BE-2514-8722-ED45-41E13E46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4BFEE3B-6ABA-1D24-97FE-717EBBC9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C653C42-4C6D-988F-42A0-8639A50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F2B662B4-F942-A78F-394F-74F603717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5B445FBE-A81E-92E1-36E3-99D1586F8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B6D20C02-77C2-CB2A-62F8-60B8C626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993-B405-4F4D-B968-A01C27211659}" type="datetime1">
              <a:rPr lang="en-IN" smtClean="0"/>
              <a:t>05/10/26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AD033241-EB08-777E-F678-5D641F64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40D711ED-181F-C690-A3B3-1D82670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7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7468B4-E355-69B3-7598-80ADF2F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E2F1AB3B-AFC6-3627-62E6-2231306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8C8C-5FBB-4DD7-A06D-BE263480794B}" type="datetime1">
              <a:rPr lang="en-IN" smtClean="0"/>
              <a:t>05/10/26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B2C6591-48E4-480E-7965-DE9F8301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10C9D68-A16A-B2D3-C8A6-B5221AF7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6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23F289A-3AD7-C11D-1594-90A35E59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2985-06EC-459B-80C8-F6F4362A1C03}" type="datetime1">
              <a:rPr lang="en-IN" smtClean="0"/>
              <a:t>05/10/26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8C252269-BBE3-199F-299B-38D4E9CC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7407FDC-B2A9-1304-047F-5808A0B6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5A4847-FC20-D9BF-0BDE-26EC7EF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8D9C584-AC19-D7B4-9DFE-7C1BC2E1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F4A3262-CE8D-2419-DCCC-C536E9FD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94758D6-7AF2-29C5-E0EE-3B7BE155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E9DA-13C6-48A4-9305-B592482DE8CE}" type="datetime1">
              <a:rPr lang="en-IN" smtClean="0"/>
              <a:t>05/10/26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5AAC7E7-68C4-7616-2DE1-0333E2C4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E9EF51B-1685-66FF-0783-23584C2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939D0E-3A71-7252-C837-B8281F0D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AFE3D557-6893-299F-57A8-A7B173F10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4CC8BA2-BB08-F4E3-5660-C7370BA5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E57E1CE-C7CA-966D-8661-1E99A7DA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C4B-C575-4DCF-9B63-045662930500}" type="datetime1">
              <a:rPr lang="en-IN" smtClean="0"/>
              <a:t>05/10/26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6055516-3E64-07E5-10C5-DE056657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FBA5AD5-9867-E76D-C035-2856CCFB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71D7EC-16EA-5009-5D33-ABFC55F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B09EC6D-8ED5-29E9-9444-CC2D6A1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C1ADFC6-7CEA-ABEE-94C2-870B1E65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931C-EA1A-43DD-B3B3-66F5BA587712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B1FA3A5-596E-6C2A-F853-30C5DC6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12CE6B1-CE87-B68F-9494-FA6D109F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0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AF0FF105-FC99-2BCB-131F-2B902F8BA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50354FD6-064F-6E12-E8DE-81EC913CD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F1D2109-32D1-4A0F-F903-5142A204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B0E1-7C95-4C20-B9C6-BA51F388E878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3E5353D-EEF9-CF3C-A97F-F0F0EBFA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DF2F1DC-3958-BCDE-9A16-88E928E7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3540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85454249-E28B-CF91-F4A6-9762E4F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1E3D641-7C66-CA7D-30A7-7F95AC27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5E1D408-B228-838E-3E43-4304680A5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CEC7A69-1922-F157-900C-FF9566831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1B80E76-E345-1553-9664-0BCF569B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4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forms.gle/B9B71VPy5b9bZ9dJ8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E9E27CD-EF84-CB3A-3D07-A3152356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xmlns="" id="{8BAD67C4-20B4-E1F6-A7E7-C8C33181D0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07459" y="1934141"/>
            <a:ext cx="8924544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000" b="1">
                <a:latin typeface="Times New Roman"/>
              </a:rPr>
              <a:t>B.Tech. – Computer Science and Engineering</a:t>
            </a:r>
            <a:br/>
            <a:r>
              <a:rPr sz="2000" b="1">
                <a:latin typeface="Times New Roman"/>
              </a:rPr>
              <a:t>BCSE497J – Project-I</a:t>
            </a:r>
            <a:br/>
            <a:r>
              <a:rPr sz="2600" b="1">
                <a:latin typeface="Times New Roman"/>
              </a:rPr>
              <a:t>ATERNET: Adaptive Temporal Expert Routing Network for Probabilistic Solar Power Forecasting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xmlns="" id="{68BC382C-506F-4908-6AC3-C0AA73064F47}"/>
              </a:ext>
            </a:extLst>
          </p:cNvPr>
          <p:cNvSpPr txBox="1"/>
          <p:nvPr/>
        </p:nvSpPr>
        <p:spPr>
          <a:xfrm>
            <a:off x="2609088" y="3208471"/>
            <a:ext cx="7071360" cy="2460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2000" b="0">
                <a:latin typeface="Times New Roman"/>
              </a:rPr>
              <a:t>Team members:</a:t>
            </a:r>
            <a:endParaRPr sz="1800" dirty="0">
              <a:latin typeface="Times New Roman"/>
              <a:cs typeface="Times New Roman"/>
            </a:endParaRPr>
          </a:p>
          <a:p>
            <a:r>
              <a:rPr sz="2000" b="1">
                <a:highlight>
                  <a:srgbClr val="FFFF00"/>
                </a:highlight>
                <a:latin typeface="Times New Roman"/>
              </a:rPr>
              <a:t>&lt;&lt;Name 1&gt;&gt;		(&lt;&lt;Reg.No&gt;&gt;)</a:t>
            </a:r>
          </a:p>
          <a:p>
            <a:r>
              <a:rPr sz="2000" b="1">
                <a:highlight>
                  <a:srgbClr val="FFFF00"/>
                </a:highlight>
                <a:latin typeface="Times New Roman"/>
              </a:rPr>
              <a:t>&lt;&lt;Name 2&gt;&gt;		(&lt;&lt;Reg.No&gt;&gt;)</a:t>
            </a:r>
          </a:p>
          <a:p>
            <a:r>
              <a:rPr sz="2000" b="1">
                <a:highlight>
                  <a:srgbClr val="FFFF00"/>
                </a:highlight>
                <a:latin typeface="Times New Roman"/>
              </a:rPr>
              <a:t>&lt;&lt;Name 3&gt;&gt;		(&lt;&lt;Reg.No&gt;&gt;)</a:t>
            </a:r>
          </a:p>
          <a:p>
            <a:r>
              <a:rPr sz="2000" b="0">
                <a:latin typeface="Times New Roman"/>
              </a:rPr>
              <a:t/>
            </a:r>
          </a:p>
          <a:p>
            <a:r>
              <a:rPr sz="2000" b="0">
                <a:latin typeface="Times New Roman"/>
              </a:rPr>
              <a:t>Faculty guide:</a:t>
            </a:r>
          </a:p>
          <a:p>
            <a:r>
              <a:rPr sz="2000" b="1">
                <a:highlight>
                  <a:srgbClr val="FFFF00"/>
                </a:highlight>
                <a:latin typeface="Times New Roman"/>
              </a:rPr>
              <a:t>&lt;&lt;Guide name&gt;&gt;</a:t>
            </a:r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6ACBE13-A9D6-9564-DA47-597E38E09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684000"/>
            <a:ext cx="10512000" cy="576000"/>
          </a:xfrm>
        </p:spPr>
        <p:txBody>
          <a:bodyPr>
            <a:normAutofit/>
          </a:bodyPr>
          <a:lstStyle/>
          <a:p>
            <a:r>
              <a:rPr sz="3000" b="1">
                <a:latin typeface="Times New Roman"/>
              </a:rPr>
              <a:t>Approval Mail From Guide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233367C-DAD6-6E34-D21A-A981C0944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440000"/>
            <a:ext cx="10980000" cy="1800000"/>
          </a:xfrm>
        </p:spPr>
        <p:txBody>
          <a:bodyPr>
            <a:normAutofit lnSpcReduction="10000"/>
          </a:bodyPr>
          <a:lstStyle/>
          <a:p>
            <a:pPr>
              <a:spcBef>
                <a:spcPts val="600"/>
              </a:spcBef>
            </a:pPr>
            <a:r>
              <a:rPr sz="2000" b="0" i="0">
                <a:latin typeface="Times New Roman"/>
              </a:rPr>
              <a:t>Guide approval for the Review-3 points obtained by mail (screenshot below).</a:t>
            </a:r>
          </a:p>
          <a:p>
            <a:pPr>
              <a:spcBef>
                <a:spcPts val="600"/>
              </a:spcBef>
            </a:pPr>
            <a:r>
              <a:rPr sz="1600" b="0" i="0">
                <a:highlight>
                  <a:srgbClr val="FFFF00"/>
                </a:highlight>
                <a:latin typeface="Times New Roman"/>
              </a:rPr>
              <a:t>Meeting with guide frequently: &lt;&lt;Satisfied&gt;&gt;   |   PowerPoint presentation: &lt;&lt;Approved&gt;&gt;   |   Final project report: &lt;&lt;Satisfied&gt;&gt;</a:t>
            </a:r>
          </a:p>
          <a:p>
            <a:pPr>
              <a:spcBef>
                <a:spcPts val="600"/>
              </a:spcBef>
            </a:pPr>
            <a:r>
              <a:rPr sz="1600" b="0" i="0">
                <a:highlight>
                  <a:srgbClr val="FFFF00"/>
                </a:highlight>
                <a:latin typeface="Times New Roman"/>
              </a:rPr>
              <a:t>Project demonstration: &lt;&lt;Approved&gt;&gt;   |   Project outcome: &lt;&lt;Ongoing&gt;&gt;   |   Turnitin plagiarism: &lt;&lt;</a:t>
            </a:r>
            <a:r>
              <a:rPr sz="1600" b="0" i="0">
                <a:highlight>
                  <a:srgbClr val="FFFF00"/>
                </a:highlight>
                <a:latin typeface="Times New Roman"/>
              </a:rPr>
              <a:t> %&gt;&gt;   |   AI score: &lt;&lt;</a:t>
            </a:r>
            <a:r>
              <a:rPr sz="1600" b="0" i="0">
                <a:highlight>
                  <a:srgbClr val="FFFF00"/>
                </a:highlight>
                <a:latin typeface="Times New Roman"/>
              </a:rPr>
              <a:t> %&gt;&gt; (should be ≤ 25%)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7827C50-3ED3-2DB6-C227-6784C6CA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05/10/26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6664170-792F-28F8-1C31-5F7A8D69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E16528B-72DB-0275-6A94-33ABB5CD7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2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440000" y="3456000"/>
            <a:ext cx="9288000" cy="2664000"/>
          </a:xfrm>
          <a:prstGeom prst="rect">
            <a:avLst/>
          </a:prstGeom>
          <a:noFill/>
          <a:ln>
            <a:solidFill>
              <a:srgbClr val="9999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0" i="1">
                <a:solidFill>
                  <a:srgbClr val="666666"/>
                </a:solidFill>
                <a:highlight>
                  <a:srgbClr val="FFFF00"/>
                </a:highlight>
                <a:latin typeface="Times New Roman"/>
              </a:rPr>
              <a:t>[ Paste the screenshot of the guide's approval mail here ]</a:t>
            </a:r>
          </a:p>
        </p:txBody>
      </p:sp>
    </p:spTree>
    <p:extLst>
      <p:ext uri="{BB962C8B-B14F-4D97-AF65-F5344CB8AC3E}">
        <p14:creationId xmlns:p14="http://schemas.microsoft.com/office/powerpoint/2010/main" val="12565606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D68A428-04DA-E6A8-7606-5D2FE5F31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999" y="1655999"/>
            <a:ext cx="10512000" cy="4320000"/>
          </a:xfrm>
        </p:spPr>
        <p:txBody>
          <a:bodyPr>
            <a:normAutofit/>
          </a:bodyPr>
          <a:lstStyle/>
          <a:p>
            <a:pPr>
              <a:spcBef>
                <a:spcPts val="1400"/>
              </a:spcBef>
            </a:pPr>
            <a:r>
              <a:rPr sz="2400" b="0" i="0">
                <a:latin typeface="Times New Roman"/>
              </a:rPr>
              <a:t>To design, build and evaluate ATERNET, a probabilistic solar-power forecaster that predicts the next 8 hours (30-minute steps) as a best guess (P50) with an 80% range (P10 to P90).</a:t>
            </a:r>
          </a:p>
          <a:p>
            <a:pPr>
              <a:spcBef>
                <a:spcPts val="1400"/>
              </a:spcBef>
            </a:pPr>
            <a:r>
              <a:rPr sz="2400" b="0" i="0">
                <a:latin typeface="Times New Roman"/>
              </a:rPr>
              <a:t>To make it as accurate as the strongest baseline (LightGBM) while giving reliable, calibrated uncertainty ranges, and to test this honestly over several random runs and two regions.</a:t>
            </a:r>
          </a:p>
          <a:p>
            <a:pPr>
              <a:spcBef>
                <a:spcPts val="1400"/>
              </a:spcBef>
            </a:pPr>
            <a:r>
              <a:rPr sz="2400" b="0" i="0">
                <a:latin typeface="Times New Roman"/>
              </a:rPr>
              <a:t>To demonstrate the system through a plain-language dashboard, including a clearly labelled simulated demonstration for VIT Vellore.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027305EA-516C-11F8-8A54-2BA046094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6562-4E3F-4038-A291-A7AE35CC3E6A}" type="datetime1">
              <a:rPr lang="en-IN" smtClean="0"/>
              <a:t>05/10/26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5DDED8F-1EBD-2E10-598E-0CA3F56F0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999" y="1512000"/>
            <a:ext cx="10512000" cy="4608000"/>
          </a:xfrm>
        </p:spPr>
        <p:txBody>
          <a:bodyPr>
            <a:normAutofit/>
          </a:bodyPr>
          <a:lstStyle/>
          <a:p>
            <a:pPr>
              <a:spcBef>
                <a:spcPts val="800"/>
              </a:spcBef>
            </a:pPr>
            <a:r>
              <a:rPr sz="1900" b="0" i="0">
                <a:latin typeface="Times New Roman"/>
              </a:rPr>
              <a:t>Problem: solar output depends on weather; grids need forecasts that also say how sure they are.</a:t>
            </a:r>
          </a:p>
          <a:p>
            <a:pPr>
              <a:spcBef>
                <a:spcPts val="800"/>
              </a:spcBef>
            </a:pPr>
            <a:r>
              <a:rPr sz="1900" b="0" i="0">
                <a:latin typeface="Times New Roman"/>
              </a:rPr>
              <a:t>ATERNET = PatchTST-style Transformer backbone + 4 weather-regime experts + uncertainty-aware router + probabilistic decoder (P10 ≤ P50 ≤ P90 always).</a:t>
            </a:r>
          </a:p>
          <a:p>
            <a:pPr>
              <a:spcBef>
                <a:spcPts val="800"/>
              </a:spcBef>
            </a:pPr>
            <a:r>
              <a:rPr sz="1900" b="0" i="0">
                <a:latin typeface="Times New Roman"/>
              </a:rPr>
              <a:t>Data: measured regional PV (Sheffield Solar PV-Live; Yorkshire and South West England, 2023–2026) + 5 NWP models (Open-Meteo). 74 automated tests pass.</a:t>
            </a:r>
          </a:p>
          <a:p>
            <a:pPr>
              <a:spcBef>
                <a:spcPts val="800"/>
              </a:spcBef>
            </a:pPr>
            <a:r>
              <a:rPr sz="1900" b="0" i="0">
                <a:latin typeface="Times New Roman"/>
              </a:rPr>
              <a:t>Results: nRMSE 3.70 ± 0.02% on Yorkshire (LightGBM 3.72 ± 0.01, PatchTST 4.16 ± 0.00); 2.63 ± 0.01% on South West (LightGBM 2.69 ± 0.00).</a:t>
            </a:r>
          </a:p>
          <a:p>
            <a:pPr>
              <a:spcBef>
                <a:spcPts val="800"/>
              </a:spcBef>
            </a:pPr>
            <a:r>
              <a:rPr sz="1900" b="0" i="0">
                <a:latin typeface="Times New Roman"/>
              </a:rPr>
              <a:t>Daytime coverage of the P10–P90 range: 0.67 → 0.79 (Yorkshire) and 0.73 → 0.80 (South West) after calibration (target 0.80).</a:t>
            </a:r>
          </a:p>
          <a:p>
            <a:pPr>
              <a:spcBef>
                <a:spcPts val="800"/>
              </a:spcBef>
            </a:pPr>
            <a:r>
              <a:rPr sz="1900" b="0" i="0">
                <a:latin typeface="Times New Roman"/>
              </a:rPr>
              <a:t>Honest findings: the first learned gate hurt accuracy; only the dense expert loss measurably helped; the India demonstration is simulated.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156C6ACB-BF9E-DB99-B99C-4896C6527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7C3D067F-DF0A-3BD2-0B9E-C22E39B7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1D5D-2F82-4210-B67C-C3AADE7FED47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435FB437-6170-6BA2-1A38-A902855A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8000" y="360000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sz="3000" b="1">
                <a:latin typeface="Times New Roman"/>
              </a:rPr>
              <a:t>Literature Review (1/2)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193B-09C0-4C85-858C-650926A9B146}" type="datetime1">
              <a:rPr lang="en-IN" smtClean="0"/>
              <a:t>05/10/26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32000" y="900000"/>
          <a:ext cx="11411999" cy="47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000"/>
                <a:gridCol w="1655999"/>
                <a:gridCol w="2736000"/>
                <a:gridCol w="2412000"/>
                <a:gridCol w="3060000"/>
              </a:tblGrid>
              <a:tr h="432000">
                <a:tc>
                  <a:txBody>
                    <a:bodyPr wrap="square"/>
                    <a:lstStyle/>
                    <a:p>
                      <a:r>
                        <a:rPr sz="1100" b="1">
                          <a:latin typeface="Times New Roman"/>
                        </a:rPr>
                        <a:t>Paper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latin typeface="Times New Roman"/>
                        </a:rPr>
                        <a:t>Objective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latin typeface="Times New Roman"/>
                        </a:rPr>
                        <a:t>Methodology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latin typeface="Times New Roman"/>
                        </a:rPr>
                        <a:t>Pros / Cons (for our goal)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latin typeface="Times New Roman"/>
                        </a:rPr>
                        <a:t>Findings (as reported)</a:t>
                      </a:r>
                    </a:p>
                  </a:txBody>
                  <a:tcPr marL="43200" marR="43200" marT="18000" marB="18000" anchor="ctr"/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[1] Wang et al., 2026</a:t>
                      </a:r>
                    </a:p>
                    <a:p>
                      <a:r>
                        <a:rPr sz="850" b="0">
                          <a:latin typeface="Times New Roman"/>
                        </a:rPr>
                        <a:t>IEEE Trans. Ind. Appl.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Distributed PV, ultra-short-term, deterministic + probabilistic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Dynamic graph network; shape-amplitude loss (DTW + MSE); quantile regression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+ models site correlation and shape</a:t>
                      </a:r>
                    </a:p>
                    <a:p>
                      <a:r>
                        <a:rPr sz="850" b="0">
                          <a:latin typeface="Times New Roman"/>
                        </a:rPr>
                        <a:t>− needs many sites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Validated on real distributed-PV data; shape and amplitude kept consistent</a:t>
                      </a:r>
                    </a:p>
                  </a:txBody>
                  <a:tcPr marL="43200" marR="43200" marT="18000" marB="18000" anchor="ctr"/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[2] Lo et al., 2025</a:t>
                      </a:r>
                    </a:p>
                    <a:p>
                      <a:r>
                        <a:rPr sz="850" b="0">
                          <a:latin typeface="Times New Roman"/>
                        </a:rPr>
                        <a:t>IEEE Trans. Ind. Appl.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Faster, simpler probabilistic solar forecasts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Quantile regression; skips training bounds when output is stable; imputation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+ cheaper to run</a:t>
                      </a:r>
                    </a:p>
                    <a:p>
                      <a:r>
                        <a:rPr sz="850" b="0">
                          <a:latin typeface="Times New Roman"/>
                        </a:rPr>
                        <a:t>− no uncertainty source modelled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Less forecasting time and better accuracy than compared methods</a:t>
                      </a:r>
                    </a:p>
                  </a:txBody>
                  <a:tcPr marL="43200" marR="43200" marT="18000" marB="18000" anchor="ctr"/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[3] He et al., 2026</a:t>
                      </a:r>
                    </a:p>
                    <a:p>
                      <a:r>
                        <a:rPr sz="850" b="0">
                          <a:latin typeface="Times New Roman"/>
                        </a:rPr>
                        <a:t>ICSGGE (IEEE)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PV intervals under complex weather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Adaptive VMD + BiLSTM + feature attention; monotonicity penalty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+ handles non-stationarity</a:t>
                      </a:r>
                    </a:p>
                    <a:p>
                      <a:r>
                        <a:rPr sz="850" b="0">
                          <a:latin typeface="Times New Roman"/>
                        </a:rPr>
                        <a:t>− penalty, not guarantee, against crossing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Better interval reliability in cloudy / convective weather; 141.6 ms run time</a:t>
                      </a:r>
                    </a:p>
                  </a:txBody>
                  <a:tcPr marL="43200" marR="43200" marT="18000" marB="18000" anchor="ctr"/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[4] Wang et al., 2025</a:t>
                      </a:r>
                    </a:p>
                    <a:p>
                      <a:r>
                        <a:rPr sz="850" b="0">
                          <a:latin typeface="Times New Roman"/>
                        </a:rPr>
                        <a:t>ICEMCE (IEEE)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Robust, explainable PV ensemble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Context-gated mixture of experts; residual corrector; distillation; conformal + MC-dropout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+ closest gating idea</a:t>
                      </a:r>
                    </a:p>
                    <a:p>
                      <a:r>
                        <a:rPr sz="850" b="0">
                          <a:latin typeface="Times New Roman"/>
                        </a:rPr>
                        <a:t>− no NWP, no NWP-spread signal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Outperforms baselines and ensembles on a multi-location PV dataset</a:t>
                      </a:r>
                    </a:p>
                  </a:txBody>
                  <a:tcPr marL="43200" marR="43200" marT="18000" marB="18000" anchor="ctr"/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[5] Zhao et al., 2026</a:t>
                      </a:r>
                    </a:p>
                    <a:p>
                      <a:r>
                        <a:rPr sz="850" b="0">
                          <a:latin typeface="Times New Roman"/>
                        </a:rPr>
                        <a:t>IEEE Trans. Power Syst.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Use several NWP sources for probabilistic PV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Two-stage ensemble, meta-learner, feature + temporal attention, non-crossing quantiles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+ multi-source NWP as input</a:t>
                      </a:r>
                    </a:p>
                    <a:p>
                      <a:r>
                        <a:rPr sz="850" b="0">
                          <a:latin typeface="Times New Roman"/>
                        </a:rPr>
                        <a:t>− spread between NWPs not used as uncertainty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Better reliability, sharpness and skill; multi-source NWP lowers single-source risk</a:t>
                      </a:r>
                    </a:p>
                  </a:txBody>
                  <a:tcPr marL="43200" marR="43200" marT="18000" marB="18000" anchor="ctr"/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[6] He et al., 2026</a:t>
                      </a:r>
                    </a:p>
                    <a:p>
                      <a:r>
                        <a:rPr sz="850" b="0">
                          <a:latin typeface="Times New Roman"/>
                        </a:rPr>
                        <a:t>IEEE Trans. Ind. Informat.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Day-ahead PV probability density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Similar-moment selection; GAN on measurements + NWP; CNN-LSTM; QR + KDE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+ enriches training data</a:t>
                      </a:r>
                    </a:p>
                    <a:p>
                      <a:r>
                        <a:rPr sz="850" b="0">
                          <a:latin typeface="Times New Roman"/>
                        </a:rPr>
                        <a:t>− GAN training complexity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Lowest CRPS in most weather scenarios; +45.8% point / +51.5% probabilistic vs QRTransformer</a:t>
                      </a:r>
                    </a:p>
                  </a:txBody>
                  <a:tcPr marL="43200" marR="43200" marT="18000" marB="18000" anchor="ctr"/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[7] Heidrich et al., 2026</a:t>
                      </a:r>
                    </a:p>
                    <a:p>
                      <a:r>
                        <a:rPr sz="850" b="0">
                          <a:latin typeface="Times New Roman"/>
                        </a:rPr>
                        <a:t>IEEE Access (curtailment)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Curtailment forecast with calibrated intervals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Patch Transformer; SwiGLU mixture of experts + load-balancing loss; conformal prediction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+ same building blocks as ours</a:t>
                      </a:r>
                    </a:p>
                    <a:p>
                      <a:r>
                        <a:rPr sz="850" b="0">
                          <a:latin typeface="Times New Roman"/>
                        </a:rPr>
                        <a:t>− different series (not PV)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MSE 0.0059 at 3 h (−13.2%); 91.27% coverage at nominal 90%</a:t>
                      </a:r>
                    </a:p>
                  </a:txBody>
                  <a:tcPr marL="43200" marR="43200" marT="18000" marB="18000" anchor="ctr"/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[8] Lyu &amp; Eftekharnejad, 2024</a:t>
                      </a:r>
                    </a:p>
                    <a:p>
                      <a:r>
                        <a:rPr sz="850" b="0">
                          <a:latin typeface="Times New Roman"/>
                        </a:rPr>
                        <a:t>IEEE Access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Probabilistic solar under rapidly changing weather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Copula theory + XGBoost weather classifier; dynamic spatio-temporal correlations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+ weather-dependent modelling</a:t>
                      </a:r>
                    </a:p>
                    <a:p>
                      <a:r>
                        <a:rPr sz="850" b="0">
                          <a:latin typeface="Times New Roman"/>
                        </a:rPr>
                        <a:t>− heavy multi-variable setup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Up to 60% higher accuracy in non-sunny autumn / winter</a:t>
                      </a:r>
                    </a:p>
                  </a:txBody>
                  <a:tcPr marL="43200" marR="43200" marT="18000" marB="18000" anchor="ctr"/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[9] Lin et al., 2025</a:t>
                      </a:r>
                    </a:p>
                    <a:p>
                      <a:r>
                        <a:rPr sz="850" b="0">
                          <a:latin typeface="Times New Roman"/>
                        </a:rPr>
                        <a:t>IEEE Trans. Power Syst.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Regional PV from many plants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Dynamic convolutional graph network, graph pooling, parameter transfer (127 plants)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+ end-to-end regional forecast</a:t>
                      </a:r>
                    </a:p>
                    <a:p>
                      <a:r>
                        <a:rPr sz="850" b="0">
                          <a:latin typeface="Times New Roman"/>
                        </a:rPr>
                        <a:t>− needs plant-level data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High-quality, reliable regional probabilistic forecasts on public data</a:t>
                      </a:r>
                    </a:p>
                  </a:txBody>
                  <a:tcPr marL="43200" marR="43200" marT="18000" marB="18000" anchor="ctr"/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[10] Huang et al., 2026</a:t>
                      </a:r>
                    </a:p>
                    <a:p>
                      <a:r>
                        <a:rPr sz="850" b="0">
                          <a:latin typeface="Times New Roman"/>
                        </a:rPr>
                        <a:t>IEEE Trans. Ind. Appl.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Distributed-PV cluster, next 4 hours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Spatial-temporal attention + graph convolution; non-crossing joint quantile loss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+ multiple levels at once</a:t>
                      </a:r>
                    </a:p>
                    <a:p>
                      <a:r>
                        <a:rPr sz="850" b="0">
                          <a:latin typeface="Times New Roman"/>
                        </a:rPr>
                        <a:t>− graph over sub-regions required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Verified on real-world datasets</a:t>
                      </a:r>
                    </a:p>
                  </a:txBody>
                  <a:tcPr marL="43200" marR="43200" marT="18000" marB="1800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FD64C5E-26B3-2EE9-895A-F822E4C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07F8AC8-6380-9217-CA4C-1FBF1C25C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0000"/>
            <a:ext cx="11160000" cy="4752000"/>
          </a:xfrm>
        </p:spPr>
        <p:txBody>
          <a:bodyPr>
            <a:normAutofit/>
          </a:bodyPr>
          <a:lstStyle/>
          <a:p>
            <a:pPr>
              <a:spcBef>
                <a:spcPts val="800"/>
              </a:spcBef>
            </a:pPr>
            <a:r>
              <a:rPr sz="1700" b="0" i="0">
                <a:latin typeface="Times New Roman"/>
              </a:rPr>
              <a:t>Uncertainty from disagreement: none of the 20 papers uses the disagreement between several NWP models or between experts as an explicit uncertainty signal that also sets interval width and gate sharpness ([5] uses multi-source NWP as input, [4] gates on prediction variance, not both).</a:t>
            </a:r>
          </a:p>
          <a:p>
            <a:pPr>
              <a:spcBef>
                <a:spcPts val="800"/>
              </a:spcBef>
            </a:pPr>
            <a:r>
              <a:rPr sz="1700" b="0" i="0">
                <a:latin typeface="Times New Roman"/>
              </a:rPr>
              <a:t>Value of gating: mixtures of experts are reported for PV, curtailment and thermal energy ([4], [7], [12]), but whether a learned gate beats a plain average, and whether it is stable, needs a direct test for regional PV.</a:t>
            </a:r>
          </a:p>
          <a:p>
            <a:pPr>
              <a:spcBef>
                <a:spcPts val="800"/>
              </a:spcBef>
            </a:pPr>
            <a:r>
              <a:rPr sz="1700" b="0" i="0">
                <a:latin typeface="Times New Roman"/>
              </a:rPr>
              <a:t>Calibration where it matters: PV has exact zeros at night; coverage and conformal calibration should be done on daytime points.</a:t>
            </a:r>
          </a:p>
          <a:p>
            <a:pPr>
              <a:spcBef>
                <a:spcPts val="800"/>
              </a:spcBef>
            </a:pPr>
            <a:r>
              <a:rPr sz="1700" b="0" i="0">
                <a:latin typeface="Times New Roman"/>
              </a:rPr>
              <a:t>Data needs: graph and image methods ([1], [9], [10], [15], [11], [16]) need plant-level networks or image streams; a regional-aggregate + NWP model is useful where these are missing.</a:t>
            </a:r>
          </a:p>
          <a:p>
            <a:pPr>
              <a:spcBef>
                <a:spcPts val="800"/>
              </a:spcBef>
            </a:pPr>
            <a:r>
              <a:rPr sz="1700" b="0" i="0">
                <a:latin typeface="Times New Roman"/>
              </a:rPr>
              <a:t>Reliable comparison: differences of a few percent can be smaller than run-to-run variation; use several seeds and a second region.</a:t>
            </a:r>
          </a:p>
          <a:p>
            <a:pPr>
              <a:spcBef>
                <a:spcPts val="800"/>
              </a:spcBef>
            </a:pPr>
            <a:r>
              <a:rPr sz="1700" b="0" i="0">
                <a:latin typeface="Times New Roman"/>
              </a:rPr>
              <a:t>Regions without open data (e.g. our campus): a clearly labelled simulated demonstration is needed.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2430A72-466B-CBDE-2F02-635BA91A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986A-8308-4C4E-A0F3-DDD9B5B25762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711DDA3-7A7C-1F61-1795-3A01ED67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94E3226-1DB1-3A4D-CE37-4A2AD48E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102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FF50AAC-0156-D6F5-7153-C7919999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283ADE1-559A-2DC2-A801-6A915E106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332000"/>
            <a:ext cx="11160000" cy="3096000"/>
          </a:xfrm>
        </p:spPr>
        <p:txBody>
          <a:bodyPr>
            <a:normAutofit/>
          </a:bodyPr>
          <a:lstStyle/>
          <a:p>
            <a:pPr>
              <a:spcBef>
                <a:spcPts val="500"/>
              </a:spcBef>
            </a:pPr>
            <a:r>
              <a:rPr sz="1700" b="0" i="0">
                <a:latin typeface="Times New Roman"/>
              </a:rPr>
              <a:t>O1  Route between weather-regime experts using the combined uncertainty (context-gated routing)</a:t>
            </a:r>
          </a:p>
          <a:p>
            <a:pPr>
              <a:spcBef>
                <a:spcPts val="500"/>
              </a:spcBef>
            </a:pPr>
            <a:r>
              <a:rPr sz="1700" b="0" i="0">
                <a:latin typeface="Times New Roman"/>
              </a:rPr>
              <a:t>O2  Make the interval width depend on uncertainty; P10 ≤ P50 ≤ P90 by construction</a:t>
            </a:r>
          </a:p>
          <a:p>
            <a:pPr>
              <a:spcBef>
                <a:spcPts val="500"/>
              </a:spcBef>
            </a:pPr>
            <a:r>
              <a:rPr sz="1700" b="0" i="0">
                <a:latin typeface="Times New Roman"/>
              </a:rPr>
              <a:t>O3  Train all parts jointly; keep every expert learning (dense expert loss)</a:t>
            </a:r>
          </a:p>
          <a:p>
            <a:pPr>
              <a:spcBef>
                <a:spcPts val="500"/>
              </a:spcBef>
            </a:pPr>
            <a:r>
              <a:rPr sz="1700" b="0" i="0">
                <a:latin typeface="Times New Roman"/>
              </a:rPr>
              <a:t>O4  Evaluate per weather regime and per forecast horizon</a:t>
            </a:r>
          </a:p>
          <a:p>
            <a:pPr>
              <a:spcBef>
                <a:spcPts val="500"/>
              </a:spcBef>
            </a:pPr>
            <a:r>
              <a:rPr sz="1700" b="0" i="0">
                <a:latin typeface="Times New Roman"/>
              </a:rPr>
              <a:t>O5  Compare honestly with LightGBM, PatchTST, LSTM over 3 seeds and on a second region</a:t>
            </a:r>
          </a:p>
          <a:p>
            <a:pPr>
              <a:spcBef>
                <a:spcPts val="500"/>
              </a:spcBef>
            </a:pPr>
            <a:r>
              <a:rPr sz="1700" b="0" i="0">
                <a:latin typeface="Times New Roman"/>
              </a:rPr>
              <a:t>O6  Deliver a tested, reproducible system, a plain-language dashboard and a simulated Vellore demo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22BADD22-870A-4D8F-B788-CCCD5C223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1BE4F0EB-E8F1-14D8-E22A-38E83F9B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6D8B93F-BA73-08B5-E0DD-D434FA25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6BABF72-E9F9-626A-63CD-EA20C071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2632EBB-2D05-8D00-7F98-43CBAFAF06ED}"/>
              </a:ext>
            </a:extLst>
          </p:cNvPr>
          <p:cNvSpPr txBox="1"/>
          <p:nvPr/>
        </p:nvSpPr>
        <p:spPr>
          <a:xfrm>
            <a:off x="468000" y="3671999"/>
            <a:ext cx="11160000" cy="936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400" b="1">
                <a:latin typeface="Times New Roman"/>
              </a:rPr>
              <a:t>Identified SDGs: SDG 7 – Affordable and Clean Energy;  SDG 13 – Climate Action</a:t>
            </a:r>
          </a:p>
          <a:p>
            <a:r>
              <a:rPr sz="1400" b="1">
                <a:latin typeface="Times New Roman"/>
              </a:rPr>
              <a:t>Technology Readiness Level: TRL 4 (validated in a research environment on real data)</a:t>
            </a:r>
          </a:p>
          <a:p>
            <a:r>
              <a:rPr sz="1400" b="1">
                <a:latin typeface="Times New Roman"/>
              </a:rPr>
              <a:t>Outcomes: project report + dashboard; conference paper planned</a:t>
            </a:r>
          </a:p>
        </p:txBody>
      </p:sp>
      <p:pic>
        <p:nvPicPr>
          <p:cNvPr id="8" name="Picture 7" descr="3 The UN 17 Sustainable Development Goals (SDGs), implemented by all... | Download Scientific Diagram">
            <a:extLst>
              <a:ext uri="{FF2B5EF4-FFF2-40B4-BE49-F238E27FC236}">
                <a16:creationId xmlns:a16="http://schemas.microsoft.com/office/drawing/2014/main" xmlns="" id="{36180A9B-AA72-E2D6-8362-4CDF7058D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701" y="4824000"/>
            <a:ext cx="1908000" cy="1512000"/>
          </a:xfrm>
          <a:prstGeom prst="rect">
            <a:avLst/>
          </a:prstGeom>
        </p:spPr>
      </p:pic>
      <p:pic>
        <p:nvPicPr>
          <p:cNvPr id="9" name="Picture 8" descr="What are Technology Readiness Levels (TRL)? - TWI">
            <a:extLst>
              <a:ext uri="{FF2B5EF4-FFF2-40B4-BE49-F238E27FC236}">
                <a16:creationId xmlns:a16="http://schemas.microsoft.com/office/drawing/2014/main" xmlns="" id="{D1491C9C-07B3-89C3-5FA0-72C9F44F3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545" y="4824000"/>
            <a:ext cx="1655999" cy="15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962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8D49C0F-2490-21B4-8186-6F75540A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5DE9EA00-8D77-8DC9-1AE3-8B6FD1AF6B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sz="3000" b="1">
                <a:latin typeface="Times New Roman"/>
              </a:rPr>
              <a:t>Framework / Architecture / Block Diagram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3B40592E-46EE-B4F2-7D01-D3568C2F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BCDC439-5940-84EE-247A-E3018795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6CB23C8-7091-8CFB-BF2C-3A19CCA8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fig_4_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181" y="1332000"/>
            <a:ext cx="4747636" cy="4896000"/>
          </a:xfrm>
          <a:prstGeom prst="rect">
            <a:avLst/>
          </a:prstGeom>
        </p:spPr>
      </p:pic>
      <p:pic>
        <p:nvPicPr>
          <p:cNvPr id="8" name="Picture 7" descr="fig_4_2_model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0000" y="1332000"/>
            <a:ext cx="4080000" cy="489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0000" y="6192000"/>
            <a:ext cx="5400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spcBef>
                <a:spcPts val="300"/>
              </a:spcBef>
              <a:buNone/>
            </a:pPr>
            <a:r>
              <a:rPr sz="1100" b="0" i="0">
                <a:latin typeface="Times New Roman"/>
              </a:rPr>
              <a:t>System architecture: data → model/experiment → application layers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76000" y="6192000"/>
            <a:ext cx="5868000" cy="28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spcBef>
                <a:spcPts val="300"/>
              </a:spcBef>
              <a:buNone/>
            </a:pPr>
            <a:r>
              <a:rPr sz="1100" b="0" i="0">
                <a:latin typeface="Times New Roman"/>
              </a:rPr>
              <a:t>ATERNET model: backbone → experts → router → decoder</a:t>
            </a:r>
          </a:p>
        </p:txBody>
      </p:sp>
    </p:spTree>
    <p:extLst>
      <p:ext uri="{BB962C8B-B14F-4D97-AF65-F5344CB8AC3E}">
        <p14:creationId xmlns:p14="http://schemas.microsoft.com/office/powerpoint/2010/main" val="63813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FE95AF1-B807-AC15-9C1A-B86677AF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EF324FF-B70A-2FC0-8FD0-C802E31DD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0000"/>
            <a:ext cx="11160000" cy="4752000"/>
          </a:xfrm>
        </p:spPr>
        <p:txBody>
          <a:bodyPr>
            <a:normAutofit/>
          </a:bodyPr>
          <a:lstStyle/>
          <a:p>
            <a:pPr>
              <a:spcBef>
                <a:spcPts val="800"/>
              </a:spcBef>
            </a:pPr>
            <a:r>
              <a:rPr sz="1700" b="0" i="0">
                <a:latin typeface="Times New Roman"/>
              </a:rPr>
              <a:t>Download measured regional PV (PV-Live) and five-model weather forecasts (Open-Meteo); align to a 30-minute grid</a:t>
            </a:r>
          </a:p>
          <a:p>
            <a:pPr>
              <a:spcBef>
                <a:spcPts val="800"/>
              </a:spcBef>
            </a:pPr>
            <a:r>
              <a:rPr sz="1700" b="0" i="0">
                <a:latin typeface="Times New Roman"/>
              </a:rPr>
              <a:t>Clean, derive features (clear-sky index, time encodings, forecast spread, regime labels) and build 24 h → 8 h windows without look-ahead</a:t>
            </a:r>
          </a:p>
          <a:p>
            <a:pPr>
              <a:spcBef>
                <a:spcPts val="800"/>
              </a:spcBef>
            </a:pPr>
            <a:r>
              <a:rPr sz="1700" b="0" i="0">
                <a:latin typeface="Times New Roman"/>
              </a:rPr>
              <a:t>Train ATERNET jointly (early stopping, checkpoints, weight averaging); output P10, P50, P90 for 16 steps with P10 ≤ P50 ≤ P90</a:t>
            </a:r>
          </a:p>
          <a:p>
            <a:pPr>
              <a:spcBef>
                <a:spcPts val="800"/>
              </a:spcBef>
            </a:pPr>
            <a:r>
              <a:rPr sz="1700" b="0" i="0">
                <a:latin typeface="Times New Roman"/>
              </a:rPr>
              <a:t>Evaluate: nRMSE, nMAE, R², PICP, PINAW, Winkler, skill vs persistence; per regime and per horizon</a:t>
            </a:r>
          </a:p>
          <a:p>
            <a:pPr>
              <a:spcBef>
                <a:spcPts val="800"/>
              </a:spcBef>
            </a:pPr>
            <a:r>
              <a:rPr sz="1700" b="0" i="0">
                <a:latin typeface="Times New Roman"/>
              </a:rPr>
              <a:t>Train and evaluate LightGBM, PatchTST and LSTM baselines under the same protocol</a:t>
            </a:r>
          </a:p>
          <a:p>
            <a:pPr>
              <a:spcBef>
                <a:spcPts val="800"/>
              </a:spcBef>
            </a:pPr>
            <a:r>
              <a:rPr sz="1700" b="0" i="0">
                <a:latin typeface="Times New Roman"/>
              </a:rPr>
              <a:t>Calibrate the intervals per regime on daytime validation points</a:t>
            </a:r>
          </a:p>
          <a:p>
            <a:pPr>
              <a:spcBef>
                <a:spcPts val="800"/>
              </a:spcBef>
            </a:pPr>
            <a:r>
              <a:rPr sz="1700" b="0" i="0">
                <a:latin typeface="Times New Roman"/>
              </a:rPr>
              <a:t>Run multi-seed experiments and ablations; aggregate mean ± standard deviation</a:t>
            </a:r>
          </a:p>
          <a:p>
            <a:pPr>
              <a:spcBef>
                <a:spcPts val="800"/>
              </a:spcBef>
            </a:pPr>
            <a:r>
              <a:rPr sz="1700" b="0" i="0">
                <a:latin typeface="Times New Roman"/>
              </a:rPr>
              <a:t>Live forecast and backtest commands; interactive dashboard; second region and simulated site by configuration only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0C9A0194-5820-F292-3A94-449C000E5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4F25267-3005-EC45-A624-B78484DF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10022FF-AD0C-E15E-5F17-B2827B55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D8D6198-8B2C-26FB-53D2-A5B87C95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299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D42F2ED-50F9-3DFA-95BB-1A1059C5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93F2560-A5FE-A724-8F39-E7E901E8F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404000"/>
            <a:ext cx="7056000" cy="482400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sz="1400" b="0" i="0">
                <a:latin typeface="Times New Roman"/>
              </a:rPr>
              <a:t>1  Data pipeline (Phase 1): PV-Live + Open-Meteo → clean → features → windows (48 → 16) → chronological 70/15/15 split</a:t>
            </a:r>
          </a:p>
          <a:p>
            <a:pPr>
              <a:spcBef>
                <a:spcPts val="600"/>
              </a:spcBef>
            </a:pPr>
            <a:r>
              <a:rPr sz="1400" b="0" i="0">
                <a:latin typeface="Times New Roman"/>
              </a:rPr>
              <a:t>2  Temporal backbone (Phase 2): patches, 3-layer Transformer, NWP cross-attention, σ encoder</a:t>
            </a:r>
          </a:p>
          <a:p>
            <a:pPr>
              <a:spcBef>
                <a:spcPts val="600"/>
              </a:spcBef>
            </a:pPr>
            <a:r>
              <a:rPr sz="1400" b="0" i="0">
                <a:latin typeface="Times New Roman"/>
              </a:rPr>
              <a:t>3  Expert pool (Phase 3): dawn-ramp, clear-peak, overcast, volatile experts + σ</a:t>
            </a:r>
            <a:r>
              <a:rPr sz="1260" b="0" i="0" baseline="-25000">
                <a:latin typeface="Times New Roman"/>
              </a:rPr>
              <a:t>e</a:t>
            </a:r>
            <a:r>
              <a:rPr sz="1400" b="0" i="0">
                <a:latin typeface="Times New Roman"/>
              </a:rPr>
              <a:t>xpert</a:t>
            </a:r>
          </a:p>
          <a:p>
            <a:pPr>
              <a:spcBef>
                <a:spcPts val="600"/>
              </a:spcBef>
            </a:pPr>
            <a:r>
              <a:rPr sz="1400" b="0" i="0">
                <a:latin typeface="Times New Roman"/>
              </a:rPr>
              <a:t>4  Adaptive router (Phase 4): uncertainty fusion, residual gate, last-step shortcut</a:t>
            </a:r>
          </a:p>
          <a:p>
            <a:pPr>
              <a:spcBef>
                <a:spcPts val="600"/>
              </a:spcBef>
            </a:pPr>
            <a:r>
              <a:rPr sz="1400" b="0" i="0">
                <a:latin typeface="Times New Roman"/>
              </a:rPr>
              <a:t>5  Probabilistic decoder (Phase 5): P50 + widths → P10, P90</a:t>
            </a:r>
          </a:p>
          <a:p>
            <a:pPr>
              <a:spcBef>
                <a:spcPts val="600"/>
              </a:spcBef>
            </a:pPr>
            <a:r>
              <a:rPr sz="1400" b="0" i="0">
                <a:latin typeface="Times New Roman"/>
              </a:rPr>
              <a:t>6  Training and calibration: composite loss, AdamW, EMA, daytime conformal calibration</a:t>
            </a:r>
          </a:p>
          <a:p>
            <a:pPr>
              <a:spcBef>
                <a:spcPts val="600"/>
              </a:spcBef>
            </a:pPr>
            <a:r>
              <a:rPr sz="1400" b="0" i="0">
                <a:latin typeface="Times New Roman"/>
              </a:rPr>
              <a:t>7  Baselines and evaluation: LightGBM, PatchTST, LSTM; metrics; multi-seed runner</a:t>
            </a:r>
          </a:p>
          <a:p>
            <a:pPr>
              <a:spcBef>
                <a:spcPts val="600"/>
              </a:spcBef>
            </a:pPr>
            <a:r>
              <a:rPr sz="1400" b="0" i="0">
                <a:latin typeface="Times New Roman"/>
              </a:rPr>
              <a:t>8  Dashboard and live forecast: Streamlit (9 pages), predict.py; 74 automated tests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B27DA514-48FC-4BF4-8205-DE21D456C5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74A04E0-6631-130F-A154-C85D978EA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9615995-EDEB-C984-B852-1229C23B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67F5109-389C-3E37-E553-A559233E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crop_better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000" y="1481163"/>
            <a:ext cx="4320000" cy="46696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60000" y="6192000"/>
            <a:ext cx="4320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 algn="ctr">
              <a:spcBef>
                <a:spcPts val="300"/>
              </a:spcBef>
              <a:buNone/>
            </a:pPr>
            <a:r>
              <a:rPr sz="1100" b="0" i="0">
                <a:latin typeface="Times New Roman"/>
              </a:rPr>
              <a:t>Dashboard: “Is ATERNET better?” page</a:t>
            </a:r>
          </a:p>
        </p:txBody>
      </p:sp>
    </p:spTree>
    <p:extLst>
      <p:ext uri="{BB962C8B-B14F-4D97-AF65-F5344CB8AC3E}">
        <p14:creationId xmlns:p14="http://schemas.microsoft.com/office/powerpoint/2010/main" val="3799870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21556E8-0003-02C5-D37D-A5CC4CE4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sz="3000" b="1">
                <a:latin typeface="Times New Roman"/>
              </a:rPr>
              <a:t>Experiments and Results (1/2): Comparison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fig_7_1_comparison_yorksh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1515876"/>
            <a:ext cx="5832000" cy="2512246"/>
          </a:xfrm>
          <a:prstGeom prst="rect">
            <a:avLst/>
          </a:prstGeom>
        </p:spPr>
      </p:pic>
      <p:pic>
        <p:nvPicPr>
          <p:cNvPr id="8" name="Picture 7" descr="fig_7_2_comparison_south_w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000" y="1515876"/>
            <a:ext cx="5832000" cy="251224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0000" y="4284000"/>
            <a:ext cx="11520000" cy="2015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300"/>
              </a:spcBef>
            </a:pPr>
            <a:r>
              <a:rPr sz="1500" b="0" i="0">
                <a:latin typeface="Times New Roman"/>
              </a:rPr>
              <a:t>Setup: test period 8 Mar – 29 Sep 2026; 3 training runs per model (LSTM: 6); mean ± std; a difference counts only beyond 2 std (F14).</a:t>
            </a:r>
          </a:p>
          <a:p>
            <a:pPr>
              <a:spcBef>
                <a:spcPts val="300"/>
              </a:spcBef>
            </a:pPr>
            <a:r>
              <a:rPr sz="1500" b="0" i="0">
                <a:latin typeface="Times New Roman"/>
              </a:rPr>
              <a:t>Yorkshire: ATERNET 3.70 ± 0.02% = LightGBM 3.72 ± 0.01% (tie), better than PatchTST 4.16 ± 0.00%; Winkler 0.0922 ± 0.0010 vs 0.0992 ± 0.0013 / 0.0971 ± 0.0003.</a:t>
            </a:r>
          </a:p>
          <a:p>
            <a:pPr>
              <a:spcBef>
                <a:spcPts val="300"/>
              </a:spcBef>
            </a:pPr>
            <a:r>
              <a:rPr sz="1500" b="0" i="0">
                <a:latin typeface="Times New Roman"/>
              </a:rPr>
              <a:t>South West (no re-tuning): ATERNET 2.63 ± 0.01% vs LightGBM 2.69 ± 0.00% and PatchTST 2.92 ± 0.03%.</a:t>
            </a:r>
          </a:p>
          <a:p>
            <a:pPr>
              <a:spcBef>
                <a:spcPts val="300"/>
              </a:spcBef>
            </a:pPr>
            <a:r>
              <a:rPr sz="1500" b="0" i="0">
                <a:latin typeface="Times New Roman"/>
              </a:rPr>
              <a:t>LSTM is unstable: 3 of 6 runs failed (nRMSE 7.0–9.2%); ATERNET varies by only 0.02.</a:t>
            </a:r>
          </a:p>
        </p:txBody>
      </p:sp>
    </p:spTree>
    <p:extLst>
      <p:ext uri="{BB962C8B-B14F-4D97-AF65-F5344CB8AC3E}">
        <p14:creationId xmlns:p14="http://schemas.microsoft.com/office/powerpoint/2010/main" val="3666188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CC49A39-F362-DB35-B5DF-7E322AB9C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04F33DD-84F0-A7F9-A1DC-A4DEA1A7D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04000"/>
            <a:ext cx="11160000" cy="4788000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sz="2000" b="1" i="0">
                <a:latin typeface="Times New Roman"/>
              </a:rPr>
              <a:t>Conclusion</a:t>
            </a:r>
          </a:p>
          <a:p>
            <a:pPr lvl="1">
              <a:spcBef>
                <a:spcPts val="600"/>
              </a:spcBef>
            </a:pPr>
            <a:r>
              <a:rPr sz="1600" b="0" i="0">
                <a:latin typeface="Times New Roman"/>
              </a:rPr>
              <a:t>ATERNET matches LightGBM on Yorkshire (3.70 vs 3.72 nRMSE), beats it on South West England (2.63 vs 2.69) and beats PatchTST on both; its ranges score better on Winkler.</a:t>
            </a:r>
          </a:p>
          <a:p>
            <a:pPr lvl="1">
              <a:spcBef>
                <a:spcPts val="600"/>
              </a:spcBef>
            </a:pPr>
            <a:r>
              <a:rPr sz="1600" b="0" i="0">
                <a:latin typeface="Times New Roman"/>
              </a:rPr>
              <a:t>A residual gate, a last-step shortcut and EMA fixed the harm done by the first learned gate; training is stable (std 0.02).</a:t>
            </a:r>
          </a:p>
          <a:p>
            <a:pPr lvl="1">
              <a:spcBef>
                <a:spcPts val="600"/>
              </a:spcBef>
            </a:pPr>
            <a:r>
              <a:rPr sz="1600" b="0" i="0">
                <a:latin typeface="Times New Roman"/>
              </a:rPr>
              <a:t>Daytime-only calibration brings coverage to about 0.80; all-hours coverage had hidden under-coverage.</a:t>
            </a:r>
          </a:p>
          <a:p>
            <a:pPr lvl="1">
              <a:spcBef>
                <a:spcPts val="600"/>
              </a:spcBef>
            </a:pPr>
            <a:r>
              <a:rPr sz="1600" b="0" i="0">
                <a:latin typeface="Times New Roman"/>
              </a:rPr>
              <a:t>Adaptive routing and regime specialisation did not improve accuracy; only the dense expert loss did. The India results are simulated.</a:t>
            </a:r>
          </a:p>
          <a:p>
            <a:pPr marL="0" indent="0">
              <a:spcBef>
                <a:spcPts val="1400"/>
              </a:spcBef>
              <a:buNone/>
            </a:pPr>
            <a:r>
              <a:rPr sz="2000" b="1" i="0">
                <a:latin typeface="Times New Roman"/>
              </a:rPr>
              <a:t>Future work</a:t>
            </a:r>
          </a:p>
          <a:p>
            <a:pPr lvl="1">
              <a:spcBef>
                <a:spcPts val="600"/>
              </a:spcBef>
            </a:pPr>
            <a:r>
              <a:rPr sz="1600" b="0" i="0">
                <a:latin typeface="Times New Roman"/>
              </a:rPr>
              <a:t>Obtain measured PV data for an Indian site (e.g. a campus plant) and fine-tune / retrain.</a:t>
            </a:r>
          </a:p>
          <a:p>
            <a:pPr lvl="1">
              <a:spcBef>
                <a:spcPts val="600"/>
              </a:spcBef>
            </a:pPr>
            <a:r>
              <a:rPr sz="1600" b="0" i="0">
                <a:latin typeface="Times New Roman"/>
              </a:rPr>
              <a:t>More regions and seasons; tune the baselines equally; ensembles of several ATERNET runs.</a:t>
            </a:r>
          </a:p>
          <a:p>
            <a:pPr lvl="1">
              <a:spcBef>
                <a:spcPts val="600"/>
              </a:spcBef>
            </a:pPr>
            <a:r>
              <a:rPr sz="1600" b="0" i="0">
                <a:latin typeface="Times New Roman"/>
              </a:rPr>
              <a:t>Make the experts specialise genuinely (diversity penalty, regime-specific data) and re-test routing; extend the horizon and deploy as a service.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xmlns="" id="{3754A46F-4AC3-5AF1-0B78-C0B5112BD1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851BAA61-633E-E24B-7DEE-4B2A2B1F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05/10/26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B93C553-2D0C-5A0A-39DC-21C43BD8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BF7A7E9-45BE-62F4-D3A6-F19DC6ABE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498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1EE89F-6F96-DF9C-768A-8B2A7BEAD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latin typeface="Times New Roman"/>
              </a:rPr>
              <a:t>Outcome Achieved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65DBCB3-75D0-D33A-66EA-4DDA4A022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999" y="1800000"/>
            <a:ext cx="10512000" cy="2880000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1000"/>
              </a:spcBef>
            </a:pPr>
            <a:r>
              <a:rPr sz="1600" b="0" i="0">
                <a:highlight>
                  <a:srgbClr val="FFFF00"/>
                </a:highlight>
                <a:latin typeface="Times New Roman"/>
              </a:rPr>
              <a:t>Patent: &lt;&lt;not filed&gt;&gt;   |   Conference (Scopus): &lt;&lt;planned – paper on ATERNET results&gt;&gt;   |   Journal: &lt;&lt;not submitted&gt;&gt;</a:t>
            </a:r>
          </a:p>
          <a:p>
            <a:pPr>
              <a:spcBef>
                <a:spcPts val="1000"/>
              </a:spcBef>
            </a:pPr>
            <a:r>
              <a:rPr sz="1600" b="0" i="0">
                <a:highlight>
                  <a:srgbClr val="FFFF00"/>
                </a:highlight>
                <a:latin typeface="Times New Roman"/>
              </a:rPr>
              <a:t>Start-up / product: &lt;&lt;none&gt;&gt;</a:t>
            </a:r>
          </a:p>
          <a:p>
            <a:pPr>
              <a:spcBef>
                <a:spcPts val="1000"/>
              </a:spcBef>
            </a:pPr>
            <a:r>
              <a:rPr sz="1600" b="0" i="0">
                <a:latin typeface="Times New Roman"/>
              </a:rPr>
              <a:t>Others: project report (71 pages), working Streamlit dashboard, 74 automated tests, reproducible build scripts</a:t>
            </a:r>
          </a:p>
          <a:p>
            <a:pPr>
              <a:spcBef>
                <a:spcPts val="1000"/>
              </a:spcBef>
            </a:pPr>
            <a:r>
              <a:rPr sz="1600" b="0" i="0">
                <a:highlight>
                  <a:srgbClr val="FFFF00"/>
                </a:highlight>
                <a:latin typeface="Times New Roman"/>
              </a:rPr>
              <a:t>Update this slide with proof (screenshot) of any accepted / published outcome before uploading.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F86E621-0A63-DDD2-60A0-511D9D7C8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4966F66-9685-CC43-3B74-035A03CAF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2234F7B-54B7-5C34-9356-A94BE39E2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13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827999" y="4824000"/>
            <a:ext cx="10512000" cy="1007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sz="1500" b="0" i="0">
                <a:solidFill>
                  <a:srgbClr val="B83232"/>
                </a:solidFill>
                <a:latin typeface="Times New Roman"/>
              </a:rPr>
              <a:t>Outcome Achieved proof to be uploaded on or before 27 Oct 2026 in the given link: https://forms.gle/B9B71VPy5b9bZ9dJ8</a:t>
            </a:r>
          </a:p>
        </p:txBody>
      </p:sp>
    </p:spTree>
    <p:extLst>
      <p:ext uri="{BB962C8B-B14F-4D97-AF65-F5344CB8AC3E}">
        <p14:creationId xmlns:p14="http://schemas.microsoft.com/office/powerpoint/2010/main" val="4071570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F70E1A0-FA4A-8258-6E10-9F00EDC0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7CFC0C65-61CC-E657-43F7-99C8E53624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sz="3000" b="1">
                <a:latin typeface="Times New Roman"/>
              </a:rPr>
              <a:t>References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732D3DB-7149-E1E5-D5F9-4FC93A78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7B6C-E68D-4047-8A1E-3C7BD2842AF7}" type="datetime1">
              <a:rPr lang="en-IN" smtClean="0"/>
              <a:t>05/10/26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EBCABB1-7C63-52E3-2815-3651AE7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431EAEC-BCE3-2979-69C6-273309B9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14</a:t>
            </a:fld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288000" y="1260000"/>
            <a:ext cx="5832000" cy="50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spcBef>
                <a:spcPts val="200"/>
              </a:spcBef>
              <a:buNone/>
            </a:pPr>
            <a:r>
              <a:rPr sz="850" b="0" i="0">
                <a:latin typeface="Times New Roman"/>
              </a:rPr>
              <a:t>[1] Y. Wang et al., “A distributed PV ultra-short-term power deterministic and probabilistic forecasting based on dynamic graph network with shape-amplitude criteria,” IEEE Trans. Ind. Appl., vol. 62, no. 2, pp. 1863–1873, 2026.</a:t>
            </a:r>
          </a:p>
          <a:p>
            <a:pPr marL="0" indent="0">
              <a:spcBef>
                <a:spcPts val="200"/>
              </a:spcBef>
              <a:buNone/>
            </a:pPr>
            <a:r>
              <a:rPr sz="850" b="0" i="0">
                <a:latin typeface="Times New Roman"/>
              </a:rPr>
              <a:t>[2] H.-Y. Lo et al., “A novel QR-based probabilistic forecasting method for solar power generation,” IEEE Trans. Ind. Appl., vol. 61, no. 4, pp. 5381–5393, 2025.</a:t>
            </a:r>
          </a:p>
          <a:p>
            <a:pPr marL="0" indent="0">
              <a:spcBef>
                <a:spcPts val="200"/>
              </a:spcBef>
              <a:buNone/>
            </a:pPr>
            <a:r>
              <a:rPr sz="850" b="0" i="0">
                <a:latin typeface="Times New Roman"/>
              </a:rPr>
              <a:t>[3] T. He, Y. Xu, and Y. Guo, “A probabilistic forecasting method for PV power under complex weather conditions based on multi-resolution deep learning,” in Proc. ICSGGE, 2026, pp. 125–130.</a:t>
            </a:r>
          </a:p>
          <a:p>
            <a:pPr marL="0" indent="0">
              <a:spcBef>
                <a:spcPts val="200"/>
              </a:spcBef>
              <a:buNone/>
            </a:pPr>
            <a:r>
              <a:rPr sz="850" b="0" i="0">
                <a:latin typeface="Times New Roman"/>
              </a:rPr>
              <a:t>[4] H. Wang, R. Duan, and X. Yang, “A robust ensemble framework with context-gated dynamic fusion and temporal residual correction for PV power forecasting,” in Proc. ICEMCE, 2025, pp. 1022–1026.</a:t>
            </a:r>
          </a:p>
          <a:p>
            <a:pPr marL="0" indent="0">
              <a:spcBef>
                <a:spcPts val="200"/>
              </a:spcBef>
              <a:buNone/>
            </a:pPr>
            <a:r>
              <a:rPr sz="850" b="0" i="0">
                <a:latin typeface="Times New Roman"/>
              </a:rPr>
              <a:t>[5] H. Zhao et al., “A two-stage ensemble learning framework for short-term nonparametric probabilistic PV power forecasting integrating multi-source NWPs,” IEEE Trans. Power Syst., vol. 41, no. 2, pp. 1231–1245, 2026.</a:t>
            </a:r>
          </a:p>
          <a:p>
            <a:pPr marL="0" indent="0">
              <a:spcBef>
                <a:spcPts val="200"/>
              </a:spcBef>
              <a:buNone/>
            </a:pPr>
            <a:r>
              <a:rPr sz="850" b="0" i="0">
                <a:latin typeface="Times New Roman"/>
              </a:rPr>
              <a:t>[6] Y. He et al., “Day-ahead PV power probability density forecasting with GAN-QRCNLSTM based on high-resolution data reconstruction,” IEEE Trans. Ind. Informat., vol. 22, no. 2, pp. 1428–1439, 2026.</a:t>
            </a:r>
          </a:p>
          <a:p>
            <a:pPr marL="0" indent="0">
              <a:spcBef>
                <a:spcPts val="200"/>
              </a:spcBef>
              <a:buNone/>
            </a:pPr>
            <a:r>
              <a:rPr sz="850" b="0" i="0">
                <a:latin typeface="Times New Roman"/>
              </a:rPr>
              <a:t>[7] M. Z. Heidrich et al., “Patch-based transformer with mixture of experts and conformal inference for curtailment time series forecasting,” IEEE Access, vol. 14, pp. 64144–64160, 2026.</a:t>
            </a:r>
          </a:p>
          <a:p>
            <a:pPr marL="0" indent="0">
              <a:spcBef>
                <a:spcPts val="200"/>
              </a:spcBef>
              <a:buNone/>
            </a:pPr>
            <a:r>
              <a:rPr sz="850" b="0" i="0">
                <a:latin typeface="Times New Roman"/>
              </a:rPr>
              <a:t>[8] C. Lyu and S. Eftekharnejad, “Probabilistic solar generation forecasting for rapidly changing weather conditions,” IEEE Access, vol. 12, pp. 79091–79103, 2024.</a:t>
            </a:r>
          </a:p>
          <a:p>
            <a:pPr marL="0" indent="0">
              <a:spcBef>
                <a:spcPts val="200"/>
              </a:spcBef>
              <a:buNone/>
            </a:pPr>
            <a:r>
              <a:rPr sz="850" b="0" i="0">
                <a:latin typeface="Times New Roman"/>
              </a:rPr>
              <a:t>[9] F. Lin et al., “Short-term probabilistic forecasting for regional PV power based on convolutional graph neural network and parameter transferring,” IEEE Trans. Power Syst., vol. 40, no. 3, pp. 2724–2736, 2025.</a:t>
            </a:r>
          </a:p>
          <a:p>
            <a:pPr marL="0" indent="0">
              <a:spcBef>
                <a:spcPts val="200"/>
              </a:spcBef>
              <a:buNone/>
            </a:pPr>
            <a:r>
              <a:rPr sz="850" b="0" i="0">
                <a:latin typeface="Times New Roman"/>
              </a:rPr>
              <a:t>[10] C. Huang et al., “Spatial-temporal attention mechanism and graph convolutional networks based distributed PV ultra-short-term probabilistic power forecasting,” IEEE Trans. Ind. Appl., early access, 2026.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0" y="1260000"/>
            <a:ext cx="5832000" cy="50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spcBef>
                <a:spcPts val="200"/>
              </a:spcBef>
              <a:buNone/>
            </a:pPr>
            <a:r>
              <a:rPr sz="850" b="0" i="0">
                <a:latin typeface="Times New Roman"/>
              </a:rPr>
              <a:t>[11] R. Rastgoo et al., “A diffusion-based probabilistic ultra-short-term solar power prediction using the sky image sequences,” IEEE Access, vol. 13, pp. 149532–149553, 2025.</a:t>
            </a:r>
          </a:p>
          <a:p>
            <a:pPr marL="0" indent="0">
              <a:spcBef>
                <a:spcPts val="200"/>
              </a:spcBef>
              <a:buNone/>
            </a:pPr>
            <a:r>
              <a:rPr sz="850" b="0" i="0">
                <a:latin typeface="Times New Roman"/>
              </a:rPr>
              <a:t>[12] L. O. Seman et al., “End-to-end decomposition-aware neural architecture search with sparse expert transformers for thermal energy forecasting,” IEEE Access, vol. 14, pp. 67765–67787, 2026.</a:t>
            </a:r>
          </a:p>
          <a:p>
            <a:pPr marL="0" indent="0">
              <a:spcBef>
                <a:spcPts val="200"/>
              </a:spcBef>
              <a:buNone/>
            </a:pPr>
            <a:r>
              <a:rPr sz="850" b="0" i="0">
                <a:latin typeface="Times New Roman"/>
              </a:rPr>
              <a:t>[13] Q.-T. Phan, Y.-K. Wu, and Q.-D. Phan, “Enhancing one-day-ahead probabilistic solar power forecast with a hybrid transformer-LUBE model and missing data imputation,” IEEE Trans. Ind. Appl., vol. 60, no. 1, pp. 1396–1408, 2024.</a:t>
            </a:r>
          </a:p>
          <a:p>
            <a:pPr marL="0" indent="0">
              <a:spcBef>
                <a:spcPts val="200"/>
              </a:spcBef>
              <a:buNone/>
            </a:pPr>
            <a:r>
              <a:rPr sz="850" b="0" i="0">
                <a:latin typeface="Times New Roman"/>
              </a:rPr>
              <a:t>[14] V. Jensen, F. M. Bianchi, and S. N. Anfinsen, “Ensemble conformalized quantile regression for probabilistic time series forecasting,” IEEE Trans. Neural Netw. Learn. Syst., vol. 35, no. 7, pp. 9014–9025, 2024.</a:t>
            </a:r>
          </a:p>
          <a:p>
            <a:pPr marL="0" indent="0">
              <a:spcBef>
                <a:spcPts val="200"/>
              </a:spcBef>
              <a:buNone/>
            </a:pPr>
            <a:r>
              <a:rPr sz="850" b="0" i="0">
                <a:latin typeface="Times New Roman"/>
              </a:rPr>
              <a:t>[15] K. Song, M. Kim, and H. Kim, “Graph-based large scale probabilistic PV power forecasting insensitive to space-time missing data,” IEEE Trans. Sustain. Energy, vol. 16, no. 1, pp. 160–173, 2025.</a:t>
            </a:r>
          </a:p>
          <a:p>
            <a:pPr marL="0" indent="0">
              <a:spcBef>
                <a:spcPts val="200"/>
              </a:spcBef>
              <a:buNone/>
            </a:pPr>
            <a:r>
              <a:rPr sz="850" b="0" i="0">
                <a:latin typeface="Times New Roman"/>
              </a:rPr>
              <a:t>[16] K. Wang et al., “Multimodal ensemble photovoltaic power forecasting incorporating diffusion-based satellite image prediction,” IEEE Trans. Sustain. Energy, vol. 17, no. 2, pp. 1425–1436, 2026.</a:t>
            </a:r>
          </a:p>
          <a:p>
            <a:pPr marL="0" indent="0">
              <a:spcBef>
                <a:spcPts val="200"/>
              </a:spcBef>
              <a:buNone/>
            </a:pPr>
            <a:r>
              <a:rPr sz="850" b="0" i="0">
                <a:latin typeface="Times New Roman"/>
              </a:rPr>
              <a:t>[17] P. Zhao et al., “Probabilistic multienergy load forecasting based on hybrid attention-enabled transformer network and Gaussian process-aided residual learning,” IEEE Trans. Ind. Informat., vol. 20, no. 6, pp. 8379–8393, 2024.</a:t>
            </a:r>
          </a:p>
          <a:p>
            <a:pPr marL="0" indent="0">
              <a:spcBef>
                <a:spcPts val="200"/>
              </a:spcBef>
              <a:buNone/>
            </a:pPr>
            <a:r>
              <a:rPr sz="850" b="0" i="0">
                <a:latin typeface="Times New Roman"/>
              </a:rPr>
              <a:t>[18] J. Ye et al., “TADNet: Temporal attention decomposition networks for probabilistic energy forecasting,” IEEE Trans. Power Syst., vol. 39, no. 6, pp. 7190–7202, 2024.</a:t>
            </a:r>
          </a:p>
          <a:p>
            <a:pPr marL="0" indent="0">
              <a:spcBef>
                <a:spcPts val="200"/>
              </a:spcBef>
              <a:buNone/>
            </a:pPr>
            <a:r>
              <a:rPr sz="850" b="0" i="0">
                <a:latin typeface="Times New Roman"/>
              </a:rPr>
              <a:t>[19] W. Wang et al., “Ultra-short-term power probabilistic forecasting method for distributed photovoltaic based on joint distribution modeling,” IEEE Trans. Ind. Appl., vol. 62, no. 1, pp. 26–36, 2026.</a:t>
            </a:r>
          </a:p>
          <a:p>
            <a:pPr marL="0" indent="0">
              <a:spcBef>
                <a:spcPts val="200"/>
              </a:spcBef>
              <a:buNone/>
            </a:pPr>
            <a:r>
              <a:rPr sz="850" b="0" i="0">
                <a:latin typeface="Times New Roman"/>
              </a:rPr>
              <a:t>[20] O. Abedinia et al., “Wind power forecasting enhancement utilizing adaptive quantile function and CNN-LSTM: A probabilistic approach,” IEEE Trans. Ind. Appl., vol. 60, no. 3, pp. 4446–4457, 2024.</a:t>
            </a:r>
          </a:p>
          <a:p>
            <a:pPr marL="0" indent="0">
              <a:spcBef>
                <a:spcPts val="600"/>
              </a:spcBef>
              <a:buNone/>
            </a:pPr>
            <a:r>
              <a:rPr sz="850" b="1" i="0">
                <a:latin typeface="Times New Roman"/>
              </a:rPr>
              <a:t>Methods used in the formulas:</a:t>
            </a:r>
          </a:p>
          <a:p>
            <a:pPr marL="0" indent="0">
              <a:spcBef>
                <a:spcPts val="200"/>
              </a:spcBef>
              <a:buNone/>
            </a:pPr>
            <a:r>
              <a:rPr sz="850" b="0" i="0">
                <a:latin typeface="Times New Roman"/>
              </a:rPr>
              <a:t>[21] A. Vaswani et al., “Attention is all you need,” in Proc. NeurIPS, 2017, pp. 5998–6008.   (F3)</a:t>
            </a:r>
          </a:p>
          <a:p>
            <a:pPr marL="0" indent="0">
              <a:spcBef>
                <a:spcPts val="200"/>
              </a:spcBef>
              <a:buNone/>
            </a:pPr>
            <a:r>
              <a:rPr sz="850" b="0" i="0">
                <a:latin typeface="Times New Roman"/>
              </a:rPr>
              <a:t>[22] Y. Nie et al., “A time series is worth 64 words: Long-term forecasting with transformers,” in Proc. ICLR, 2023.   (F2)</a:t>
            </a:r>
          </a:p>
          <a:p>
            <a:pPr marL="0" indent="0">
              <a:spcBef>
                <a:spcPts val="200"/>
              </a:spcBef>
              <a:buNone/>
            </a:pPr>
            <a:r>
              <a:rPr sz="850" b="0" i="0">
                <a:latin typeface="Times New Roman"/>
              </a:rPr>
              <a:t>[23] G. Ke et al., “LightGBM: A highly efficient gradient boosting decision tree,” in Proc. NeurIPS, 2017, pp. 3146–3154.   (baseline)</a:t>
            </a:r>
          </a:p>
          <a:p>
            <a:pPr marL="0" indent="0">
              <a:spcBef>
                <a:spcPts val="200"/>
              </a:spcBef>
              <a:buNone/>
            </a:pPr>
            <a:r>
              <a:rPr sz="850" b="0" i="0">
                <a:latin typeface="Times New Roman"/>
              </a:rPr>
              <a:t>[24] R. Koenker and G. Bassett, “Regression quantiles,” Econometrica, vol. 46, no. 1, pp. 33–50, 1978.   (F9)</a:t>
            </a:r>
          </a:p>
          <a:p>
            <a:pPr marL="0" indent="0">
              <a:spcBef>
                <a:spcPts val="200"/>
              </a:spcBef>
              <a:buNone/>
            </a:pPr>
            <a:r>
              <a:rPr sz="850" b="0" i="0">
                <a:latin typeface="Times New Roman"/>
              </a:rPr>
              <a:t>[25] R. L. Winkler, “A decision-theoretic approach to interval estimation,” J. Amer. Statist. Assoc., vol. 67, no. 337, pp. 187–191, 1972.   (F11)</a:t>
            </a:r>
          </a:p>
          <a:p>
            <a:pPr marL="0" indent="0">
              <a:spcBef>
                <a:spcPts val="200"/>
              </a:spcBef>
              <a:buNone/>
            </a:pPr>
            <a:r>
              <a:rPr sz="850" b="0" i="0">
                <a:latin typeface="Times New Roman"/>
              </a:rPr>
              <a:t>[26] Y. Romano, E. Patterson, and E. J. Candès, “Conformalized quantile regression,” in Proc. NeurIPS, 2019, pp. 3543–3553.   (F12)</a:t>
            </a:r>
          </a:p>
          <a:p>
            <a:pPr marL="0" indent="0">
              <a:spcBef>
                <a:spcPts val="200"/>
              </a:spcBef>
              <a:buNone/>
            </a:pPr>
            <a:r>
              <a:rPr sz="850" b="0" i="0">
                <a:latin typeface="Times New Roman"/>
              </a:rPr>
              <a:t>[27] T. Bachlechner et al., “ReZero is all you need: Fast convergence at large depth,” in Proc. UAI, PMLR 161, 2021, pp. 1352–1361.   (F6)</a:t>
            </a:r>
          </a:p>
          <a:p>
            <a:pPr marL="0" indent="0">
              <a:spcBef>
                <a:spcPts val="200"/>
              </a:spcBef>
              <a:buNone/>
            </a:pPr>
            <a:r>
              <a:rPr sz="850" b="0" i="0">
                <a:latin typeface="Times New Roman"/>
              </a:rPr>
              <a:t>[28] B. T. Polyak and A. B. Juditsky, “Acceleration of stochastic approximation by averaging,” SIAM J. Control Optim., vol. 30, no. 4, pp. 838–855, 1992.   (F10)</a:t>
            </a:r>
          </a:p>
        </p:txBody>
      </p:sp>
    </p:spTree>
    <p:extLst>
      <p:ext uri="{BB962C8B-B14F-4D97-AF65-F5344CB8AC3E}">
        <p14:creationId xmlns:p14="http://schemas.microsoft.com/office/powerpoint/2010/main" val="3510526248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000" y="360000"/>
            <a:ext cx="10512000" cy="576000"/>
          </a:xfrm>
        </p:spPr>
        <p:txBody>
          <a:bodyPr/>
          <a:lstStyle/>
          <a:p>
            <a:r>
              <a:rPr sz="3000" b="1">
                <a:latin typeface="Times New Roman"/>
              </a:rPr>
              <a:t>Literature Review (2/2)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6562-4E3F-4038-A291-A7AE35CC3E6A}" type="datetime1">
              <a:rPr lang="en-IN" smtClean="0"/>
              <a:t>05/10/26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</a:t>
            </a:fld>
            <a:endParaRPr lang="en-IN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32000" y="900000"/>
          <a:ext cx="11411999" cy="47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000"/>
                <a:gridCol w="1655999"/>
                <a:gridCol w="2736000"/>
                <a:gridCol w="2412000"/>
                <a:gridCol w="3060000"/>
              </a:tblGrid>
              <a:tr h="432000">
                <a:tc>
                  <a:txBody>
                    <a:bodyPr wrap="square"/>
                    <a:lstStyle/>
                    <a:p>
                      <a:r>
                        <a:rPr sz="1100" b="1">
                          <a:latin typeface="Times New Roman"/>
                        </a:rPr>
                        <a:t>Paper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latin typeface="Times New Roman"/>
                        </a:rPr>
                        <a:t>Objective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latin typeface="Times New Roman"/>
                        </a:rPr>
                        <a:t>Methodology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latin typeface="Times New Roman"/>
                        </a:rPr>
                        <a:t>Pros / Cons (for our goal)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latin typeface="Times New Roman"/>
                        </a:rPr>
                        <a:t>Findings (as reported)</a:t>
                      </a:r>
                    </a:p>
                  </a:txBody>
                  <a:tcPr marL="43200" marR="43200" marT="18000" marB="18000" anchor="ctr"/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[11] Rastgoo et al., 2025</a:t>
                      </a:r>
                    </a:p>
                    <a:p>
                      <a:r>
                        <a:rPr sz="850" b="0">
                          <a:latin typeface="Times New Roman"/>
                        </a:rPr>
                        <a:t>IEEE Access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Ultra-short-term PV from sky images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Diffusion model; cross-attention on multi-resolution image patches; ELBO loss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+ sees cloud motion</a:t>
                      </a:r>
                    </a:p>
                    <a:p>
                      <a:r>
                        <a:rPr sz="850" b="0">
                          <a:latin typeface="Times New Roman"/>
                        </a:rPr>
                        <a:t>− needs sky-image stream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Superior to 64 baselines on four metrics</a:t>
                      </a:r>
                    </a:p>
                  </a:txBody>
                  <a:tcPr marL="43200" marR="43200" marT="18000" marB="18000" anchor="ctr"/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[12] Seman et al., 2026</a:t>
                      </a:r>
                    </a:p>
                    <a:p>
                      <a:r>
                        <a:rPr sz="850" b="0">
                          <a:latin typeface="Times New Roman"/>
                        </a:rPr>
                        <a:t>IEEE Access (thermal energy)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Thermal-energy forecasting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Hierarchical VMD, architecture search, sparse expert Transformer with load balancing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+ expert routing at scale</a:t>
                      </a:r>
                    </a:p>
                    <a:p>
                      <a:r>
                        <a:rPr sz="850" b="0">
                          <a:latin typeface="Times New Roman"/>
                        </a:rPr>
                        <a:t>− different series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MAPE 5.94%, about 12–15% lower than competing methods</a:t>
                      </a:r>
                    </a:p>
                  </a:txBody>
                  <a:tcPr marL="43200" marR="43200" marT="18000" marB="18000" anchor="ctr"/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[13] Phan et al., 2024</a:t>
                      </a:r>
                    </a:p>
                    <a:p>
                      <a:r>
                        <a:rPr sz="850" b="0">
                          <a:latin typeface="Times New Roman"/>
                        </a:rPr>
                        <a:t>IEEE Trans. Ind. Appl.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One-day-ahead PV intervals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Transformer-LUBE; XGBoost imputation; GRU residual correction; NWP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+ missing-data handling</a:t>
                      </a:r>
                    </a:p>
                    <a:p>
                      <a:r>
                        <a:rPr sz="850" b="0">
                          <a:latin typeface="Times New Roman"/>
                        </a:rPr>
                        <a:t>− bounds, not quantiles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Better NRMSE, NMAPE, PICP, PINAW, CWC than ANN, LSTM, GRU, XGBoost</a:t>
                      </a:r>
                    </a:p>
                  </a:txBody>
                  <a:tcPr marL="43200" marR="43200" marT="18000" marB="18000" anchor="ctr"/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[14] Jensen et al., 2024</a:t>
                      </a:r>
                    </a:p>
                    <a:p>
                      <a:r>
                        <a:rPr sz="850" b="0">
                          <a:latin typeface="Times New Roman"/>
                        </a:rPr>
                        <a:t>IEEE TNNLS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Valid intervals for any time-series model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Ensemble conformalized quantile regression; asymmetric conformity scores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+ distribution-free validity</a:t>
                      </a:r>
                    </a:p>
                    <a:p>
                      <a:r>
                        <a:rPr sz="850" b="0">
                          <a:latin typeface="Times New Roman"/>
                        </a:rPr>
                        <a:t>− generic, not PV-specific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Sharper, valid intervals than QR-only or conformal-only</a:t>
                      </a:r>
                    </a:p>
                  </a:txBody>
                  <a:tcPr marL="43200" marR="43200" marT="18000" marB="18000" anchor="ctr"/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[15] Song et al., 2025</a:t>
                      </a:r>
                    </a:p>
                    <a:p>
                      <a:r>
                        <a:rPr sz="850" b="0">
                          <a:latin typeface="Times New Roman"/>
                        </a:rPr>
                        <a:t>IEEE Trans. Sustain. Energy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Large-scale multi-site PV with missing data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Random coarse-graph attention; adaptive imputation (1,649 sites)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+ scalable</a:t>
                      </a:r>
                    </a:p>
                    <a:p>
                      <a:r>
                        <a:rPr sz="850" b="0">
                          <a:latin typeface="Times New Roman"/>
                        </a:rPr>
                        <a:t>− multi-site data needed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7–10% and 6–25% average improvement under missing-data types</a:t>
                      </a:r>
                    </a:p>
                  </a:txBody>
                  <a:tcPr marL="43200" marR="43200" marT="18000" marB="18000" anchor="ctr"/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[16] Wang et al., 2026</a:t>
                      </a:r>
                    </a:p>
                    <a:p>
                      <a:r>
                        <a:rPr sz="850" b="0">
                          <a:latin typeface="Times New Roman"/>
                        </a:rPr>
                        <a:t>IEEE Trans. Sustain. Energy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PV from satellite cloud forecasts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Diffusion image prediction + neural SDE; multimodal ensemble with PV + NWP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+ models cloud uncertainty</a:t>
                      </a:r>
                    </a:p>
                    <a:p>
                      <a:r>
                        <a:rPr sz="850" b="0">
                          <a:latin typeface="Times New Roman"/>
                        </a:rPr>
                        <a:t>− needs satellite images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180-min CRPS −6.06% and −4.73% at two sites; 36.5% lower CRPS in images</a:t>
                      </a:r>
                    </a:p>
                  </a:txBody>
                  <a:tcPr marL="43200" marR="43200" marT="18000" marB="18000" anchor="ctr"/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[17] Zhao et al., 2024</a:t>
                      </a:r>
                    </a:p>
                    <a:p>
                      <a:r>
                        <a:rPr sz="850" b="0">
                          <a:latin typeface="Times New Roman"/>
                        </a:rPr>
                        <a:t>IEEE Trans. Ind. Informat. (load)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Probabilistic multi-energy load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Hybrid-attention Transformer; Gaussian-process residual learning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+ residual modelling</a:t>
                      </a:r>
                    </a:p>
                    <a:p>
                      <a:r>
                        <a:rPr sz="850" b="0">
                          <a:latin typeface="Times New Roman"/>
                        </a:rPr>
                        <a:t>− load, not PV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Captures coupling between energy loads; probabilistic output</a:t>
                      </a:r>
                    </a:p>
                  </a:txBody>
                  <a:tcPr marL="43200" marR="43200" marT="18000" marB="18000" anchor="ctr"/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[18] Ye et al., 2024</a:t>
                      </a:r>
                    </a:p>
                    <a:p>
                      <a:r>
                        <a:rPr sz="850" b="0">
                          <a:latin typeface="Times New Roman"/>
                        </a:rPr>
                        <a:t>IEEE Trans. Power Syst.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Multi-horizon probabilistic energy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TADNet: regular + residual components; convolution + attention; gating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+ interval from residual</a:t>
                      </a:r>
                    </a:p>
                    <a:p>
                      <a:r>
                        <a:rPr sz="850" b="0">
                          <a:latin typeface="Times New Roman"/>
                        </a:rPr>
                        <a:t>− energy series generally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Best performance on two energy datasets; robust long-term</a:t>
                      </a:r>
                    </a:p>
                  </a:txBody>
                  <a:tcPr marL="43200" marR="43200" marT="18000" marB="18000" anchor="ctr"/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[19] Wang et al., 2026</a:t>
                      </a:r>
                    </a:p>
                    <a:p>
                      <a:r>
                        <a:rPr sz="850" b="0">
                          <a:latin typeface="Times New Roman"/>
                        </a:rPr>
                        <a:t>IEEE Trans. Ind. Appl.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Distributed-PV intervals from joint distribution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Transformer point forecast; autoencoder fluctuation patterns; Clayton copula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+ pattern-dependent intervals</a:t>
                      </a:r>
                    </a:p>
                    <a:p>
                      <a:r>
                        <a:rPr sz="850" b="0">
                          <a:latin typeface="Times New Roman"/>
                        </a:rPr>
                        <a:t>− two-step, copula fitting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Intervals from point forecast and error joint distribution</a:t>
                      </a:r>
                    </a:p>
                  </a:txBody>
                  <a:tcPr marL="43200" marR="43200" marT="18000" marB="18000" anchor="ctr"/>
                </a:tc>
              </a:tr>
              <a:tr h="432000"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[20] Abedinia et al., 2024</a:t>
                      </a:r>
                    </a:p>
                    <a:p>
                      <a:r>
                        <a:rPr sz="850" b="0">
                          <a:latin typeface="Times New Roman"/>
                        </a:rPr>
                        <a:t>IEEE Trans. Ind. Appl. (wind)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Probabilistic wind forecast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CNN-LSTM predicts spline quantile-function parameters; adaptive weighted CRPS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+ full distribution</a:t>
                      </a:r>
                    </a:p>
                    <a:p>
                      <a:r>
                        <a:rPr sz="850" b="0">
                          <a:latin typeface="Times New Roman"/>
                        </a:rPr>
                        <a:t>− wind, not PV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850" b="0">
                          <a:latin typeface="Times New Roman"/>
                        </a:rPr>
                        <a:t>More accurate than compared models across scenarios</a:t>
                      </a:r>
                    </a:p>
                  </a:txBody>
                  <a:tcPr marL="43200" marR="43200" marT="18000" marB="180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000" y="684000"/>
            <a:ext cx="10512000" cy="576000"/>
          </a:xfrm>
        </p:spPr>
        <p:txBody>
          <a:bodyPr/>
          <a:lstStyle/>
          <a:p>
            <a:r>
              <a:rPr sz="3000" b="1">
                <a:latin typeface="Times New Roman"/>
              </a:rPr>
              <a:t>Where Each Formula Is Used (F1 – F14)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6562-4E3F-4038-A291-A7AE35CC3E6A}" type="datetime1">
              <a:rPr lang="en-IN" smtClean="0"/>
              <a:t>05/10/26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</a:t>
            </a:fld>
            <a:endParaRPr lang="en-IN"/>
          </a:p>
        </p:txBody>
      </p:sp>
      <p:sp>
        <p:nvSpPr>
          <p:cNvPr id="10" name="Rounded Rectangle 9"/>
          <p:cNvSpPr/>
          <p:nvPr/>
        </p:nvSpPr>
        <p:spPr>
          <a:xfrm>
            <a:off x="324000" y="1655999"/>
            <a:ext cx="1475999" cy="1152000"/>
          </a:xfrm>
          <a:prstGeom prst="roundRect">
            <a:avLst/>
          </a:prstGeom>
          <a:solidFill>
            <a:srgbClr val="DCE9F7"/>
          </a:solidFill>
          <a:ln>
            <a:solidFill>
              <a:srgbClr val="2E5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Data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preparation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(Phase 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000" y="2861999"/>
            <a:ext cx="1475999" cy="288000"/>
          </a:xfrm>
          <a:prstGeom prst="roundRect">
            <a:avLst/>
          </a:prstGeom>
          <a:solidFill>
            <a:srgbClr val="2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F1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5999" y="1655999"/>
            <a:ext cx="1475999" cy="1152000"/>
          </a:xfrm>
          <a:prstGeom prst="roundRect">
            <a:avLst/>
          </a:prstGeom>
          <a:solidFill>
            <a:srgbClr val="DCE9F7"/>
          </a:solidFill>
          <a:ln>
            <a:solidFill>
              <a:srgbClr val="2E5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Backbone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(Phase 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5999" y="2861999"/>
            <a:ext cx="1475999" cy="288000"/>
          </a:xfrm>
          <a:prstGeom prst="roundRect">
            <a:avLst/>
          </a:prstGeom>
          <a:solidFill>
            <a:srgbClr val="2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F2, F3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08000" y="1655999"/>
            <a:ext cx="1475999" cy="1152000"/>
          </a:xfrm>
          <a:prstGeom prst="roundRect">
            <a:avLst/>
          </a:prstGeom>
          <a:solidFill>
            <a:srgbClr val="DDEFE0"/>
          </a:solidFill>
          <a:ln>
            <a:solidFill>
              <a:srgbClr val="2E5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Expert pool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(Phase 3)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8000" y="2861999"/>
            <a:ext cx="1475999" cy="288000"/>
          </a:xfrm>
          <a:prstGeom prst="roundRect">
            <a:avLst/>
          </a:prstGeom>
          <a:solidFill>
            <a:srgbClr val="2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F4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00000" y="1655999"/>
            <a:ext cx="1475999" cy="1152000"/>
          </a:xfrm>
          <a:prstGeom prst="roundRect">
            <a:avLst/>
          </a:prstGeom>
          <a:solidFill>
            <a:srgbClr val="FBEBC8"/>
          </a:solidFill>
          <a:ln>
            <a:solidFill>
              <a:srgbClr val="2E5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Adaptive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router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(Phase 4)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00000" y="2861999"/>
            <a:ext cx="1475999" cy="288000"/>
          </a:xfrm>
          <a:prstGeom prst="roundRect">
            <a:avLst/>
          </a:prstGeom>
          <a:solidFill>
            <a:srgbClr val="2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F5, F6, F7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92000" y="1655999"/>
            <a:ext cx="1475999" cy="1152000"/>
          </a:xfrm>
          <a:prstGeom prst="roundRect">
            <a:avLst/>
          </a:prstGeom>
          <a:solidFill>
            <a:srgbClr val="F8DCDC"/>
          </a:solidFill>
          <a:ln>
            <a:solidFill>
              <a:srgbClr val="2E5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Probabilistic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decoder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(Phase 5)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92000" y="2861999"/>
            <a:ext cx="1475999" cy="288000"/>
          </a:xfrm>
          <a:prstGeom prst="roundRect">
            <a:avLst/>
          </a:prstGeom>
          <a:solidFill>
            <a:srgbClr val="2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F8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84000" y="1655999"/>
            <a:ext cx="1296000" cy="1152000"/>
          </a:xfrm>
          <a:prstGeom prst="roundRect">
            <a:avLst/>
          </a:prstGeom>
          <a:solidFill>
            <a:srgbClr val="FFFFFF"/>
          </a:solidFill>
          <a:ln>
            <a:solidFill>
              <a:srgbClr val="2E5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Output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P10, P50, P90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00000" y="2232000"/>
            <a:ext cx="215999" cy="0"/>
          </a:xfrm>
          <a:prstGeom prst="line">
            <a:avLst/>
          </a:prstGeom>
          <a:ln w="1905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491999" y="2232000"/>
            <a:ext cx="216000" cy="0"/>
          </a:xfrm>
          <a:prstGeom prst="line">
            <a:avLst/>
          </a:prstGeom>
          <a:ln w="1905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184000" y="2232000"/>
            <a:ext cx="216000" cy="0"/>
          </a:xfrm>
          <a:prstGeom prst="line">
            <a:avLst/>
          </a:prstGeom>
          <a:ln w="1905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76000" y="2232000"/>
            <a:ext cx="216000" cy="0"/>
          </a:xfrm>
          <a:prstGeom prst="line">
            <a:avLst/>
          </a:prstGeom>
          <a:ln w="1905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568000" y="2232000"/>
            <a:ext cx="216000" cy="0"/>
          </a:xfrm>
          <a:prstGeom prst="line">
            <a:avLst/>
          </a:prstGeom>
          <a:ln w="1905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24000" y="3671999"/>
            <a:ext cx="2736000" cy="936000"/>
          </a:xfrm>
          <a:prstGeom prst="roundRect">
            <a:avLst/>
          </a:prstGeom>
          <a:solidFill>
            <a:srgbClr val="EEEEE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Training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(loss, optimiser, EMA)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4000" y="4662000"/>
            <a:ext cx="2736000" cy="288000"/>
          </a:xfrm>
          <a:prstGeom prst="roundRect">
            <a:avLst/>
          </a:prstGeom>
          <a:solidFill>
            <a:srgbClr val="2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F9, F10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11999" y="3671999"/>
            <a:ext cx="2736000" cy="936000"/>
          </a:xfrm>
          <a:prstGeom prst="roundRect">
            <a:avLst/>
          </a:prstGeom>
          <a:solidFill>
            <a:srgbClr val="EEEEE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Evaluation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(metrics, comparison rule)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11999" y="4662000"/>
            <a:ext cx="2736000" cy="288000"/>
          </a:xfrm>
          <a:prstGeom prst="roundRect">
            <a:avLst/>
          </a:prstGeom>
          <a:solidFill>
            <a:srgbClr val="2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F11, F14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0000" y="3671999"/>
            <a:ext cx="2736000" cy="936000"/>
          </a:xfrm>
          <a:prstGeom prst="roundRect">
            <a:avLst/>
          </a:prstGeom>
          <a:solidFill>
            <a:srgbClr val="EEEEE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Calibration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(daytime conformal)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0000" y="4662000"/>
            <a:ext cx="2736000" cy="288000"/>
          </a:xfrm>
          <a:prstGeom prst="roundRect">
            <a:avLst/>
          </a:prstGeom>
          <a:solidFill>
            <a:srgbClr val="2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F12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88000" y="3671999"/>
            <a:ext cx="2484000" cy="936000"/>
          </a:xfrm>
          <a:prstGeom prst="roundRect">
            <a:avLst/>
          </a:prstGeom>
          <a:solidFill>
            <a:srgbClr val="EEEEEE"/>
          </a:solidFill>
          <a:ln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00000"/>
                </a:solidFill>
                <a:latin typeface="Times New Roman"/>
              </a:rPr>
              <a:t>Simulated Vellore site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(demo data only)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88000" y="4662000"/>
            <a:ext cx="2484000" cy="288000"/>
          </a:xfrm>
          <a:prstGeom prst="roundRect">
            <a:avLst/>
          </a:prstGeom>
          <a:solidFill>
            <a:srgbClr val="2E5A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F13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000" y="1296000"/>
            <a:ext cx="972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sz="1400" b="1" i="0">
                <a:latin typeface="Times New Roman"/>
              </a:rPr>
              <a:t>Model forward pass (one forecast)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4000" y="3348000"/>
            <a:ext cx="972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sz="1400" b="1" i="0">
                <a:latin typeface="Times New Roman"/>
              </a:rPr>
              <a:t>Around the 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4000" y="5364000"/>
            <a:ext cx="11520000" cy="93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latin typeface="Times New Roman"/>
              </a:rPr>
              <a:t>Blue tags = formula numbers; the next two slides give each formula and what it does.</a:t>
            </a:r>
          </a:p>
          <a:p>
            <a:pPr>
              <a:spcBef>
                <a:spcPts val="300"/>
              </a:spcBef>
            </a:pPr>
            <a:r>
              <a:rPr sz="1300" b="0" i="0">
                <a:latin typeface="Times New Roman"/>
              </a:rPr>
              <a:t>Every formula here is implemented in the project code (src/phase1–5, src/training, src/evaluation); F2/F3 follow PatchTST and the Transformer, F6 follows ReZero, F12 follows CQR.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000" y="360000"/>
            <a:ext cx="10512000" cy="576000"/>
          </a:xfrm>
        </p:spPr>
        <p:txBody>
          <a:bodyPr/>
          <a:lstStyle/>
          <a:p>
            <a:r>
              <a:rPr sz="3000" b="1">
                <a:latin typeface="Times New Roman"/>
              </a:rPr>
              <a:t>Formulas and Positions (1/2): Model Forward Pass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6562-4E3F-4038-A291-A7AE35CC3E6A}" type="datetime1">
              <a:rPr lang="en-IN" smtClean="0"/>
              <a:t>05/10/26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</a:t>
            </a:fld>
            <a:endParaRPr lang="en-IN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4000" y="972000"/>
          <a:ext cx="11411999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3999"/>
                <a:gridCol w="2232000"/>
                <a:gridCol w="5220000"/>
                <a:gridCol w="3456000"/>
              </a:tblGrid>
              <a:tr h="360000">
                <a:tc>
                  <a:txBody>
                    <a:bodyPr wrap="square"/>
                    <a:lstStyle/>
                    <a:p>
                      <a:r>
                        <a:rPr sz="1300" b="1">
                          <a:latin typeface="Times New Roman"/>
                        </a:rPr>
                        <a:t>No.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latin typeface="Times New Roman"/>
                        </a:rPr>
                        <a:t>Position in the system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latin typeface="Times New Roman"/>
                        </a:rPr>
                        <a:t>Formula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latin typeface="Times New Roman"/>
                        </a:rPr>
                        <a:t>What it does</a:t>
                      </a:r>
                    </a:p>
                  </a:txBody>
                  <a:tcPr marL="43200" marR="43200" marT="18000" marB="18000" anchor="ctr"/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100" b="1">
                          <a:latin typeface="Times New Roman"/>
                        </a:rPr>
                        <a:t>F1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Data preparation (Phase 1)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latin typeface="Times New Roman"/>
                        </a:rPr>
                        <a:t>pv</a:t>
                      </a:r>
                      <a:r>
                        <a:rPr sz="990" b="0" i="0" baseline="-25000">
                          <a:latin typeface="Times New Roman"/>
                        </a:rPr>
                        <a:t>norm</a:t>
                      </a:r>
                      <a:r>
                        <a:rPr sz="1100" b="0" i="0">
                          <a:latin typeface="Times New Roman"/>
                        </a:rPr>
                        <a:t> = P / P</a:t>
                      </a:r>
                      <a:r>
                        <a:rPr sz="990" b="0" i="0" baseline="-25000">
                          <a:latin typeface="Times New Roman"/>
                        </a:rPr>
                        <a:t>capacity</a:t>
                      </a:r>
                    </a:p>
                    <a:p>
                      <a:r>
                        <a:rPr sz="1100" b="0" i="0">
                          <a:latin typeface="Times New Roman"/>
                        </a:rPr>
                        <a:t>CSI = GHI / GHI</a:t>
                      </a:r>
                      <a:r>
                        <a:rPr sz="990" b="0" i="0" baseline="-25000">
                          <a:latin typeface="Times New Roman"/>
                        </a:rPr>
                        <a:t>clear-sky</a:t>
                      </a:r>
                    </a:p>
                    <a:p>
                      <a:r>
                        <a:rPr sz="1100" b="0" i="0">
                          <a:latin typeface="Times New Roman"/>
                        </a:rPr>
                        <a:t>x′ = (x − x</a:t>
                      </a:r>
                      <a:r>
                        <a:rPr sz="990" b="0" i="0" baseline="-25000">
                          <a:latin typeface="Times New Roman"/>
                        </a:rPr>
                        <a:t>min</a:t>
                      </a:r>
                      <a:r>
                        <a:rPr sz="1100" b="0" i="0">
                          <a:latin typeface="Times New Roman"/>
                        </a:rPr>
                        <a:t>) / (x</a:t>
                      </a:r>
                      <a:r>
                        <a:rPr sz="990" b="0" i="0" baseline="-25000">
                          <a:latin typeface="Times New Roman"/>
                        </a:rPr>
                        <a:t>max</a:t>
                      </a:r>
                      <a:r>
                        <a:rPr sz="1100" b="0" i="0">
                          <a:latin typeface="Times New Roman"/>
                        </a:rPr>
                        <a:t> − x</a:t>
                      </a:r>
                      <a:r>
                        <a:rPr sz="990" b="0" i="0" baseline="-25000">
                          <a:latin typeface="Times New Roman"/>
                        </a:rPr>
                        <a:t>min</a:t>
                      </a:r>
                      <a:r>
                        <a:rPr sz="1100" b="0" i="0">
                          <a:latin typeface="Times New Roman"/>
                        </a:rPr>
                        <a:t>)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latin typeface="Times New Roman"/>
                        </a:rPr>
                        <a:t>Capacity-normalised target, clear-sky index feature, min-max scaling (fitted on train only)</a:t>
                      </a:r>
                    </a:p>
                  </a:txBody>
                  <a:tcPr marL="43200" marR="43200" marT="18000" marB="18000" anchor="ctr"/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100" b="1">
                          <a:latin typeface="Times New Roman"/>
                        </a:rPr>
                        <a:t>F2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Backbone: patch embedding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latin typeface="Times New Roman"/>
                        </a:rPr>
                        <a:t>n</a:t>
                      </a:r>
                      <a:r>
                        <a:rPr sz="990" b="0" i="0" baseline="-25000">
                          <a:latin typeface="Times New Roman"/>
                        </a:rPr>
                        <a:t>patches</a:t>
                      </a:r>
                      <a:r>
                        <a:rPr sz="1100" b="0" i="0">
                          <a:latin typeface="Times New Roman"/>
                        </a:rPr>
                        <a:t> = ⌊(L − P) / S⌋ + 1 = ⌊(48 − 8) / 4⌋ + 1 = 11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latin typeface="Times New Roman"/>
                        </a:rPr>
                        <a:t>History L = 48 steps cut into patches of P = 8 with stride S = 4</a:t>
                      </a:r>
                    </a:p>
                  </a:txBody>
                  <a:tcPr marL="43200" marR="43200" marT="18000" marB="18000" anchor="ctr"/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100" b="1">
                          <a:latin typeface="Times New Roman"/>
                        </a:rPr>
                        <a:t>F3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Backbone: Transformer encoder and NWP cross-attention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latin typeface="Times New Roman"/>
                        </a:rPr>
                        <a:t>Attention(Q, K, V) = softmax( Q K</a:t>
                      </a:r>
                      <a:r>
                        <a:rPr sz="990" b="0" i="0" baseline="30000">
                          <a:latin typeface="Times New Roman"/>
                        </a:rPr>
                        <a:t>T</a:t>
                      </a:r>
                      <a:r>
                        <a:rPr sz="1100" b="0" i="0">
                          <a:latin typeface="Times New Roman"/>
                        </a:rPr>
                        <a:t> / √d</a:t>
                      </a:r>
                      <a:r>
                        <a:rPr sz="990" b="0" i="0" baseline="-25000">
                          <a:latin typeface="Times New Roman"/>
                        </a:rPr>
                        <a:t>k</a:t>
                      </a:r>
                      <a:r>
                        <a:rPr sz="1100" b="0" i="0">
                          <a:latin typeface="Times New Roman"/>
                        </a:rPr>
                        <a:t> ) V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latin typeface="Times New Roman"/>
                        </a:rPr>
                        <a:t>Lets PV patches look at the weather-forecast patches (8 heads, d</a:t>
                      </a:r>
                      <a:r>
                        <a:rPr sz="990" b="0" i="0" baseline="-25000">
                          <a:latin typeface="Times New Roman"/>
                        </a:rPr>
                        <a:t>model</a:t>
                      </a:r>
                      <a:r>
                        <a:rPr sz="1100" b="0" i="0">
                          <a:latin typeface="Times New Roman"/>
                        </a:rPr>
                        <a:t> = 128)</a:t>
                      </a:r>
                    </a:p>
                  </a:txBody>
                  <a:tcPr marL="43200" marR="43200" marT="18000" marB="18000" anchor="ctr"/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100" b="1">
                          <a:latin typeface="Times New Roman"/>
                        </a:rPr>
                        <a:t>F4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Expert pool: expert disagreement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latin typeface="Times New Roman"/>
                        </a:rPr>
                        <a:t>σ</a:t>
                      </a:r>
                      <a:r>
                        <a:rPr sz="990" b="0" i="0" baseline="-25000">
                          <a:latin typeface="Times New Roman"/>
                        </a:rPr>
                        <a:t>expert</a:t>
                      </a:r>
                      <a:r>
                        <a:rPr sz="1100" b="0" i="0">
                          <a:latin typeface="Times New Roman"/>
                        </a:rPr>
                        <a:t> = √( mean</a:t>
                      </a:r>
                      <a:r>
                        <a:rPr sz="990" b="0" i="0" baseline="-25000">
                          <a:latin typeface="Times New Roman"/>
                        </a:rPr>
                        <a:t>h</a:t>
                      </a:r>
                      <a:r>
                        <a:rPr sz="1100" b="0" i="0">
                          <a:latin typeface="Times New Roman"/>
                        </a:rPr>
                        <a:t> Var</a:t>
                      </a:r>
                      <a:r>
                        <a:rPr sz="990" b="0" i="0" baseline="-25000">
                          <a:latin typeface="Times New Roman"/>
                        </a:rPr>
                        <a:t>k</a:t>
                      </a:r>
                      <a:r>
                        <a:rPr sz="1100" b="0" i="0">
                          <a:latin typeface="Times New Roman"/>
                        </a:rPr>
                        <a:t>( ŷ</a:t>
                      </a:r>
                      <a:r>
                        <a:rPr sz="990" b="0" i="0" baseline="-25000">
                          <a:latin typeface="Times New Roman"/>
                        </a:rPr>
                        <a:t>k,h</a:t>
                      </a:r>
                      <a:r>
                        <a:rPr sz="1100" b="0" i="0">
                          <a:latin typeface="Times New Roman"/>
                        </a:rPr>
                        <a:t> ) )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latin typeface="Times New Roman"/>
                        </a:rPr>
                        <a:t>Standard deviation across the 4 experts, averaged over the horizon (computed on detached outputs)</a:t>
                      </a:r>
                    </a:p>
                  </a:txBody>
                  <a:tcPr marL="43200" marR="43200" marT="18000" marB="18000" anchor="ctr"/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100" b="1">
                          <a:latin typeface="Times New Roman"/>
                        </a:rPr>
                        <a:t>F5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Router: uncertainty fusion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latin typeface="Times New Roman"/>
                        </a:rPr>
                        <a:t>σ</a:t>
                      </a:r>
                      <a:r>
                        <a:rPr sz="990" b="0" i="0" baseline="-25000">
                          <a:latin typeface="Times New Roman"/>
                        </a:rPr>
                        <a:t>total</a:t>
                      </a:r>
                      <a:r>
                        <a:rPr sz="1100" b="0" i="0">
                          <a:latin typeface="Times New Roman"/>
                        </a:rPr>
                        <a:t> = α·n(σ</a:t>
                      </a:r>
                      <a:r>
                        <a:rPr sz="990" b="0" i="0" baseline="-25000">
                          <a:latin typeface="Times New Roman"/>
                        </a:rPr>
                        <a:t>NWP</a:t>
                      </a:r>
                      <a:r>
                        <a:rPr sz="1100" b="0" i="0">
                          <a:latin typeface="Times New Roman"/>
                        </a:rPr>
                        <a:t>) + (1 − α)·n(σ</a:t>
                      </a:r>
                      <a:r>
                        <a:rPr sz="990" b="0" i="0" baseline="-25000">
                          <a:latin typeface="Times New Roman"/>
                        </a:rPr>
                        <a:t>expert</a:t>
                      </a:r>
                      <a:r>
                        <a:rPr sz="1100" b="0" i="0">
                          <a:latin typeface="Times New Roman"/>
                        </a:rPr>
                        <a:t>)</a:t>
                      </a:r>
                    </a:p>
                    <a:p>
                      <a:r>
                        <a:rPr sz="1100" b="0" i="0">
                          <a:latin typeface="Times New Roman"/>
                        </a:rPr>
                        <a:t>α = sigmoid(w</a:t>
                      </a:r>
                      <a:r>
                        <a:rPr sz="990" b="0" i="0" baseline="30000">
                          <a:latin typeface="Times New Roman"/>
                        </a:rPr>
                        <a:t>T</a:t>
                      </a:r>
                      <a:r>
                        <a:rPr sz="1100" b="0" i="0">
                          <a:latin typeface="Times New Roman"/>
                        </a:rPr>
                        <a:t> h</a:t>
                      </a:r>
                      <a:r>
                        <a:rPr sz="990" b="0" i="0" baseline="-25000">
                          <a:latin typeface="Times New Roman"/>
                        </a:rPr>
                        <a:t>expert</a:t>
                      </a:r>
                      <a:r>
                        <a:rPr sz="1100" b="0" i="0">
                          <a:latin typeface="Times New Roman"/>
                        </a:rPr>
                        <a:t> + b),  n(σ) = BatchNorm(log(1 + σ))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latin typeface="Times New Roman"/>
                        </a:rPr>
                        <a:t>Mixes the two uncertainty sources; α is learned from the embedding</a:t>
                      </a:r>
                    </a:p>
                  </a:txBody>
                  <a:tcPr marL="43200" marR="43200" marT="18000" marB="18000" anchor="ctr"/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100" b="1">
                          <a:latin typeface="Times New Roman"/>
                        </a:rPr>
                        <a:t>F6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Router: gate with temperature and residual scale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latin typeface="Times New Roman"/>
                        </a:rPr>
                        <a:t>T = exp( clamp(softplus(β)·σ</a:t>
                      </a:r>
                      <a:r>
                        <a:rPr sz="990" b="0" i="0" baseline="-25000">
                          <a:latin typeface="Times New Roman"/>
                        </a:rPr>
                        <a:t>total</a:t>
                      </a:r>
                      <a:r>
                        <a:rPr sz="1100" b="0" i="0">
                          <a:latin typeface="Times New Roman"/>
                        </a:rPr>
                        <a:t>, ±8) )</a:t>
                      </a:r>
                    </a:p>
                    <a:p>
                      <a:r>
                        <a:rPr sz="1100" b="0" i="0">
                          <a:latin typeface="Times New Roman"/>
                        </a:rPr>
                        <a:t>w = softmax( δ · z / T ),  δ(0) = 0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latin typeface="Times New Roman"/>
                        </a:rPr>
                        <a:t>More uncertainty → higher T → votes spread out. δ starts at 0 = uniform routing (ReZero idea)</a:t>
                      </a:r>
                    </a:p>
                  </a:txBody>
                  <a:tcPr marL="43200" marR="43200" marT="18000" marB="18000" anchor="ctr"/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100" b="1">
                          <a:latin typeface="Times New Roman"/>
                        </a:rPr>
                        <a:t>F7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Router output with last-step shortcut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latin typeface="Times New Roman"/>
                        </a:rPr>
                        <a:t>ŷ</a:t>
                      </a:r>
                      <a:r>
                        <a:rPr sz="990" b="0" i="0" baseline="-25000">
                          <a:latin typeface="Times New Roman"/>
                        </a:rPr>
                        <a:t>routed</a:t>
                      </a:r>
                      <a:r>
                        <a:rPr sz="1100" b="0" i="0">
                          <a:latin typeface="Times New Roman"/>
                        </a:rPr>
                        <a:t> = Σ</a:t>
                      </a:r>
                      <a:r>
                        <a:rPr sz="990" b="0" i="0" baseline="-25000">
                          <a:latin typeface="Times New Roman"/>
                        </a:rPr>
                        <a:t>k</a:t>
                      </a:r>
                      <a:r>
                        <a:rPr sz="1100" b="0" i="0">
                          <a:latin typeface="Times New Roman"/>
                        </a:rPr>
                        <a:t> w</a:t>
                      </a:r>
                      <a:r>
                        <a:rPr sz="990" b="0" i="0" baseline="-25000">
                          <a:latin typeface="Times New Roman"/>
                        </a:rPr>
                        <a:t>k</a:t>
                      </a:r>
                      <a:r>
                        <a:rPr sz="1100" b="0" i="0">
                          <a:latin typeface="Times New Roman"/>
                        </a:rPr>
                        <a:t>·ŷ</a:t>
                      </a:r>
                      <a:r>
                        <a:rPr sz="990" b="0" i="0" baseline="-25000">
                          <a:latin typeface="Times New Roman"/>
                        </a:rPr>
                        <a:t>k</a:t>
                      </a:r>
                      <a:r>
                        <a:rPr sz="1100" b="0" i="0">
                          <a:latin typeface="Times New Roman"/>
                        </a:rPr>
                        <a:t> + ( W</a:t>
                      </a:r>
                      <a:r>
                        <a:rPr sz="990" b="0" i="0" baseline="-25000">
                          <a:latin typeface="Times New Roman"/>
                        </a:rPr>
                        <a:t>s</a:t>
                      </a:r>
                      <a:r>
                        <a:rPr sz="1100" b="0" i="0">
                          <a:latin typeface="Times New Roman"/>
                        </a:rPr>
                        <a:t> x</a:t>
                      </a:r>
                      <a:r>
                        <a:rPr sz="990" b="0" i="0" baseline="-25000">
                          <a:latin typeface="Times New Roman"/>
                        </a:rPr>
                        <a:t>last</a:t>
                      </a:r>
                      <a:r>
                        <a:rPr sz="1100" b="0" i="0">
                          <a:latin typeface="Times New Roman"/>
                        </a:rPr>
                        <a:t> + b</a:t>
                      </a:r>
                      <a:r>
                        <a:rPr sz="990" b="0" i="0" baseline="-25000">
                          <a:latin typeface="Times New Roman"/>
                        </a:rPr>
                        <a:t>s</a:t>
                      </a:r>
                      <a:r>
                        <a:rPr sz="1100" b="0" i="0">
                          <a:latin typeface="Times New Roman"/>
                        </a:rPr>
                        <a:t> )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latin typeface="Times New Roman"/>
                        </a:rPr>
                        <a:t>Weighted sum of the 4 experts plus a zero-initialised linear shortcut from the latest observation</a:t>
                      </a:r>
                    </a:p>
                  </a:txBody>
                  <a:tcPr marL="43200" marR="43200" marT="18000" marB="180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000" y="360000"/>
            <a:ext cx="10512000" cy="576000"/>
          </a:xfrm>
        </p:spPr>
        <p:txBody>
          <a:bodyPr/>
          <a:lstStyle/>
          <a:p>
            <a:r>
              <a:rPr sz="3000" b="1">
                <a:latin typeface="Times New Roman"/>
              </a:rPr>
              <a:t>Formulas and Positions (2/2): Decoder, Training, Evaluation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6562-4E3F-4038-A291-A7AE35CC3E6A}" type="datetime1">
              <a:rPr lang="en-IN" smtClean="0"/>
              <a:t>05/10/26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</a:t>
            </a:fld>
            <a:endParaRPr lang="en-IN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4000" y="972000"/>
          <a:ext cx="11411999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3999"/>
                <a:gridCol w="2232000"/>
                <a:gridCol w="5220000"/>
                <a:gridCol w="3456000"/>
              </a:tblGrid>
              <a:tr h="360000">
                <a:tc>
                  <a:txBody>
                    <a:bodyPr wrap="square"/>
                    <a:lstStyle/>
                    <a:p>
                      <a:r>
                        <a:rPr sz="1300" b="1">
                          <a:latin typeface="Times New Roman"/>
                        </a:rPr>
                        <a:t>No.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latin typeface="Times New Roman"/>
                        </a:rPr>
                        <a:t>Position in the system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latin typeface="Times New Roman"/>
                        </a:rPr>
                        <a:t>Formula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latin typeface="Times New Roman"/>
                        </a:rPr>
                        <a:t>What it does</a:t>
                      </a:r>
                    </a:p>
                  </a:txBody>
                  <a:tcPr marL="43200" marR="43200" marT="18000" marB="18000" anchor="ctr"/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100" b="1">
                          <a:latin typeface="Times New Roman"/>
                        </a:rPr>
                        <a:t>F8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Probabilistic decoder (Phase 5)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latin typeface="Times New Roman"/>
                        </a:rPr>
                        <a:t>P50 = clip( ŷ</a:t>
                      </a:r>
                      <a:r>
                        <a:rPr sz="990" b="0" i="0" baseline="-25000">
                          <a:latin typeface="Times New Roman"/>
                        </a:rPr>
                        <a:t>routed</a:t>
                      </a:r>
                      <a:r>
                        <a:rPr sz="1100" b="0" i="0">
                          <a:latin typeface="Times New Roman"/>
                        </a:rPr>
                        <a:t> + 0.1·tanh(g(h</a:t>
                      </a:r>
                      <a:r>
                        <a:rPr sz="990" b="0" i="0" baseline="-25000">
                          <a:latin typeface="Times New Roman"/>
                        </a:rPr>
                        <a:t>nwp</a:t>
                      </a:r>
                      <a:r>
                        <a:rPr sz="1100" b="0" i="0">
                          <a:latin typeface="Times New Roman"/>
                        </a:rPr>
                        <a:t>, σ</a:t>
                      </a:r>
                      <a:r>
                        <a:rPr sz="990" b="0" i="0" baseline="-25000">
                          <a:latin typeface="Times New Roman"/>
                        </a:rPr>
                        <a:t>total</a:t>
                      </a:r>
                      <a:r>
                        <a:rPr sz="1100" b="0" i="0">
                          <a:latin typeface="Times New Roman"/>
                        </a:rPr>
                        <a:t>)), 0, 1 )</a:t>
                      </a:r>
                    </a:p>
                    <a:p>
                      <a:r>
                        <a:rPr sz="1100" b="0" i="0">
                          <a:latin typeface="Times New Roman"/>
                        </a:rPr>
                        <a:t>lower</a:t>
                      </a:r>
                      <a:r>
                        <a:rPr sz="990" b="0" i="0" baseline="-25000">
                          <a:latin typeface="Times New Roman"/>
                        </a:rPr>
                        <a:t>h</a:t>
                      </a:r>
                      <a:r>
                        <a:rPr sz="1100" b="0" i="0">
                          <a:latin typeface="Times New Roman"/>
                        </a:rPr>
                        <a:t> = softplus( a</a:t>
                      </a:r>
                      <a:r>
                        <a:rPr sz="990" b="0" i="0" baseline="-25000">
                          <a:latin typeface="Times New Roman"/>
                        </a:rPr>
                        <a:t>h</a:t>
                      </a:r>
                      <a:r>
                        <a:rPr sz="1100" b="0" i="0">
                          <a:latin typeface="Times New Roman"/>
                        </a:rPr>
                        <a:t> + softplus(γ</a:t>
                      </a:r>
                      <a:r>
                        <a:rPr sz="990" b="0" i="0" baseline="-25000">
                          <a:latin typeface="Times New Roman"/>
                        </a:rPr>
                        <a:t>h</a:t>
                      </a:r>
                      <a:r>
                        <a:rPr sz="1100" b="0" i="0">
                          <a:latin typeface="Times New Roman"/>
                        </a:rPr>
                        <a:t>)·σ</a:t>
                      </a:r>
                      <a:r>
                        <a:rPr sz="990" b="0" i="0" baseline="-25000">
                          <a:latin typeface="Times New Roman"/>
                        </a:rPr>
                        <a:t>total</a:t>
                      </a:r>
                      <a:r>
                        <a:rPr sz="1100" b="0" i="0">
                          <a:latin typeface="Times New Roman"/>
                        </a:rPr>
                        <a:t> )</a:t>
                      </a:r>
                    </a:p>
                    <a:p>
                      <a:r>
                        <a:rPr sz="1100" b="0" i="0">
                          <a:latin typeface="Times New Roman"/>
                        </a:rPr>
                        <a:t>P10 = clip(P50 − lower),  P90 = clip(P50 + upper)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latin typeface="Times New Roman"/>
                        </a:rPr>
                        <a:t>Interval width grows with σ</a:t>
                      </a:r>
                      <a:r>
                        <a:rPr sz="990" b="0" i="0" baseline="-25000">
                          <a:latin typeface="Times New Roman"/>
                        </a:rPr>
                        <a:t>total</a:t>
                      </a:r>
                      <a:r>
                        <a:rPr sz="1100" b="0" i="0">
                          <a:latin typeface="Times New Roman"/>
                        </a:rPr>
                        <a:t>; P10 ≤ P50 ≤ P90 by construction</a:t>
                      </a:r>
                    </a:p>
                  </a:txBody>
                  <a:tcPr marL="43200" marR="43200" marT="18000" marB="18000" anchor="ctr"/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100" b="1">
                          <a:latin typeface="Times New Roman"/>
                        </a:rPr>
                        <a:t>F9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Training: loss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latin typeface="Times New Roman"/>
                        </a:rPr>
                        <a:t>ρ</a:t>
                      </a:r>
                      <a:r>
                        <a:rPr sz="990" b="0" i="0" baseline="-25000">
                          <a:latin typeface="Times New Roman"/>
                        </a:rPr>
                        <a:t>τ</a:t>
                      </a:r>
                      <a:r>
                        <a:rPr sz="1100" b="0" i="0">
                          <a:latin typeface="Times New Roman"/>
                        </a:rPr>
                        <a:t>(e) = max( τ e, (τ − 1) e ),  e = y − ŷ</a:t>
                      </a:r>
                    </a:p>
                    <a:p>
                      <a:r>
                        <a:rPr sz="1100" b="0" i="0">
                          <a:latin typeface="Times New Roman"/>
                        </a:rPr>
                        <a:t>L = L</a:t>
                      </a:r>
                      <a:r>
                        <a:rPr sz="990" b="0" i="0" baseline="-25000">
                          <a:latin typeface="Times New Roman"/>
                        </a:rPr>
                        <a:t>pinball</a:t>
                      </a:r>
                      <a:r>
                        <a:rPr sz="1100" b="0" i="0">
                          <a:latin typeface="Times New Roman"/>
                        </a:rPr>
                        <a:t> + 0.05 L</a:t>
                      </a:r>
                      <a:r>
                        <a:rPr sz="990" b="0" i="0" baseline="-25000">
                          <a:latin typeface="Times New Roman"/>
                        </a:rPr>
                        <a:t>sharp</a:t>
                      </a:r>
                      <a:r>
                        <a:rPr sz="1100" b="0" i="0">
                          <a:latin typeface="Times New Roman"/>
                        </a:rPr>
                        <a:t> + w(t) Σ</a:t>
                      </a:r>
                      <a:r>
                        <a:rPr sz="990" b="0" i="0" baseline="-25000">
                          <a:latin typeface="Times New Roman"/>
                        </a:rPr>
                        <a:t>k</a:t>
                      </a:r>
                      <a:r>
                        <a:rPr sz="1100" b="0" i="0">
                          <a:latin typeface="Times New Roman"/>
                        </a:rPr>
                        <a:t> L</a:t>
                      </a:r>
                      <a:r>
                        <a:rPr sz="990" b="0" i="0" baseline="-25000">
                          <a:latin typeface="Times New Roman"/>
                        </a:rPr>
                        <a:t>expert,k</a:t>
                      </a:r>
                      <a:r>
                        <a:rPr sz="1100" b="0" i="0">
                          <a:latin typeface="Times New Roman"/>
                        </a:rPr>
                        <a:t> + 0.01 L</a:t>
                      </a:r>
                      <a:r>
                        <a:rPr sz="990" b="0" i="0" baseline="-25000">
                          <a:latin typeface="Times New Roman"/>
                        </a:rPr>
                        <a:t>balance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latin typeface="Times New Roman"/>
                        </a:rPr>
                        <a:t>Pinball loss for P10/P50/P90; sharpness; dense expert loss (w = 1 → 0.3); gate load balance</a:t>
                      </a:r>
                    </a:p>
                  </a:txBody>
                  <a:tcPr marL="43200" marR="43200" marT="18000" marB="18000" anchor="ctr"/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100" b="1">
                          <a:latin typeface="Times New Roman"/>
                        </a:rPr>
                        <a:t>F10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Training: optimiser and weight averaging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latin typeface="Times New Roman"/>
                        </a:rPr>
                        <a:t>η</a:t>
                      </a:r>
                      <a:r>
                        <a:rPr sz="990" b="0" i="0" baseline="-25000">
                          <a:latin typeface="Times New Roman"/>
                        </a:rPr>
                        <a:t>t</a:t>
                      </a:r>
                      <a:r>
                        <a:rPr sz="1100" b="0" i="0">
                          <a:latin typeface="Times New Roman"/>
                        </a:rPr>
                        <a:t> = η</a:t>
                      </a:r>
                      <a:r>
                        <a:rPr sz="990" b="0" i="0" baseline="-25000">
                          <a:latin typeface="Times New Roman"/>
                        </a:rPr>
                        <a:t>min</a:t>
                      </a:r>
                      <a:r>
                        <a:rPr sz="1100" b="0" i="0">
                          <a:latin typeface="Times New Roman"/>
                        </a:rPr>
                        <a:t> + ½(η</a:t>
                      </a:r>
                      <a:r>
                        <a:rPr sz="990" b="0" i="0" baseline="-25000">
                          <a:latin typeface="Times New Roman"/>
                        </a:rPr>
                        <a:t>0</a:t>
                      </a:r>
                      <a:r>
                        <a:rPr sz="1100" b="0" i="0">
                          <a:latin typeface="Times New Roman"/>
                        </a:rPr>
                        <a:t> − η</a:t>
                      </a:r>
                      <a:r>
                        <a:rPr sz="990" b="0" i="0" baseline="-25000">
                          <a:latin typeface="Times New Roman"/>
                        </a:rPr>
                        <a:t>min</a:t>
                      </a:r>
                      <a:r>
                        <a:rPr sz="1100" b="0" i="0">
                          <a:latin typeface="Times New Roman"/>
                        </a:rPr>
                        <a:t>)(1 + cos(π t / T))</a:t>
                      </a:r>
                    </a:p>
                    <a:p>
                      <a:r>
                        <a:rPr sz="1100" b="0" i="0">
                          <a:latin typeface="Times New Roman"/>
                        </a:rPr>
                        <a:t>θ</a:t>
                      </a:r>
                      <a:r>
                        <a:rPr sz="990" b="0" i="0" baseline="-25000">
                          <a:latin typeface="Times New Roman"/>
                        </a:rPr>
                        <a:t>ema</a:t>
                      </a:r>
                      <a:r>
                        <a:rPr sz="1100" b="0" i="0">
                          <a:latin typeface="Times New Roman"/>
                        </a:rPr>
                        <a:t> ← d·θ</a:t>
                      </a:r>
                      <a:r>
                        <a:rPr sz="990" b="0" i="0" baseline="-25000">
                          <a:latin typeface="Times New Roman"/>
                        </a:rPr>
                        <a:t>ema</a:t>
                      </a:r>
                      <a:r>
                        <a:rPr sz="1100" b="0" i="0">
                          <a:latin typeface="Times New Roman"/>
                        </a:rPr>
                        <a:t> + (1 − d)·θ,  d = min(0.999, (1 + t)/(10 + t))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latin typeface="Times New Roman"/>
                        </a:rPr>
                        <a:t>Cosine learning-rate schedule (AdamW); EMA weights used for validation and checkpoints</a:t>
                      </a:r>
                    </a:p>
                  </a:txBody>
                  <a:tcPr marL="43200" marR="43200" marT="18000" marB="18000" anchor="ctr"/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100" b="1">
                          <a:latin typeface="Times New Roman"/>
                        </a:rPr>
                        <a:t>F11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Evaluation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latin typeface="Times New Roman"/>
                        </a:rPr>
                        <a:t>nRMSE = 100·√mean((y − ŷ)²),   Skill = 1 − RMSE / RMSE</a:t>
                      </a:r>
                      <a:r>
                        <a:rPr sz="990" b="0" i="0" baseline="-25000">
                          <a:latin typeface="Times New Roman"/>
                        </a:rPr>
                        <a:t>persistence</a:t>
                      </a:r>
                    </a:p>
                    <a:p>
                      <a:r>
                        <a:rPr sz="1100" b="0" i="0">
                          <a:latin typeface="Times New Roman"/>
                        </a:rPr>
                        <a:t>PICP = mean(P10 ≤ y ≤ P90),  PINAW = mean(P90 − P10)</a:t>
                      </a:r>
                    </a:p>
                    <a:p>
                      <a:r>
                        <a:rPr sz="1100" b="0" i="0">
                          <a:latin typeface="Times New Roman"/>
                        </a:rPr>
                        <a:t>Winkler = mean( width + (2/α)·(below + above) ),  α = 0.2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latin typeface="Times New Roman"/>
                        </a:rPr>
                        <a:t>Accuracy, skill vs 'same as now', coverage, width, and joint interval score</a:t>
                      </a:r>
                    </a:p>
                  </a:txBody>
                  <a:tcPr marL="43200" marR="43200" marT="18000" marB="18000" anchor="ctr"/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100" b="1">
                          <a:latin typeface="Times New Roman"/>
                        </a:rPr>
                        <a:t>F12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Calibration (after training)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latin typeface="Times New Roman"/>
                        </a:rPr>
                        <a:t>E = max( P10 − y, y − P90 )  (daytime points, per regime)</a:t>
                      </a:r>
                    </a:p>
                    <a:p>
                      <a:r>
                        <a:rPr sz="1100" b="0" i="0">
                          <a:latin typeface="Times New Roman"/>
                        </a:rPr>
                        <a:t>q̂ = Quantile</a:t>
                      </a:r>
                      <a:r>
                        <a:rPr sz="990" b="0" i="0" baseline="-25000">
                          <a:latin typeface="Times New Roman"/>
                        </a:rPr>
                        <a:t>⌈(n+1)(1−α)⌉/n</a:t>
                      </a:r>
                      <a:r>
                        <a:rPr sz="1100" b="0" i="0">
                          <a:latin typeface="Times New Roman"/>
                        </a:rPr>
                        <a:t>(E),   P10′ = P10 − q̂,  P90′ = P90 + q̂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latin typeface="Times New Roman"/>
                        </a:rPr>
                        <a:t>Conformalized quantile regression; brings daytime coverage to about 0.80</a:t>
                      </a:r>
                    </a:p>
                  </a:txBody>
                  <a:tcPr marL="43200" marR="43200" marT="18000" marB="18000" anchor="ctr"/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100" b="1">
                          <a:latin typeface="Times New Roman"/>
                        </a:rPr>
                        <a:t>F13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Simulated Vellore site (demo only)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latin typeface="Times New Roman"/>
                        </a:rPr>
                        <a:t>T</a:t>
                      </a:r>
                      <a:r>
                        <a:rPr sz="990" b="0" i="0" baseline="-25000">
                          <a:latin typeface="Times New Roman"/>
                        </a:rPr>
                        <a:t>cell</a:t>
                      </a:r>
                      <a:r>
                        <a:rPr sz="1100" b="0" i="0">
                          <a:latin typeface="Times New Roman"/>
                        </a:rPr>
                        <a:t> = T</a:t>
                      </a:r>
                      <a:r>
                        <a:rPr sz="990" b="0" i="0" baseline="-25000">
                          <a:latin typeface="Times New Roman"/>
                        </a:rPr>
                        <a:t>amb</a:t>
                      </a:r>
                      <a:r>
                        <a:rPr sz="1100" b="0" i="0">
                          <a:latin typeface="Times New Roman"/>
                        </a:rPr>
                        <a:t> + 0.03125·GHI</a:t>
                      </a:r>
                    </a:p>
                    <a:p>
                      <a:r>
                        <a:rPr sz="1100" b="0" i="0">
                          <a:latin typeface="Times New Roman"/>
                        </a:rPr>
                        <a:t>P = P</a:t>
                      </a:r>
                      <a:r>
                        <a:rPr sz="990" b="0" i="0" baseline="-25000">
                          <a:latin typeface="Times New Roman"/>
                        </a:rPr>
                        <a:t>peak</a:t>
                      </a:r>
                      <a:r>
                        <a:rPr sz="1100" b="0" i="0">
                          <a:latin typeface="Times New Roman"/>
                        </a:rPr>
                        <a:t>·(GHI/1000)·(1 − 0.004(T</a:t>
                      </a:r>
                      <a:r>
                        <a:rPr sz="990" b="0" i="0" baseline="-25000">
                          <a:latin typeface="Times New Roman"/>
                        </a:rPr>
                        <a:t>cell</a:t>
                      </a:r>
                      <a:r>
                        <a:rPr sz="1100" b="0" i="0">
                          <a:latin typeface="Times New Roman"/>
                        </a:rPr>
                        <a:t> − 25))·0.88·s,   P ≤ P</a:t>
                      </a:r>
                      <a:r>
                        <a:rPr sz="990" b="0" i="0" baseline="-25000">
                          <a:latin typeface="Times New Roman"/>
                        </a:rPr>
                        <a:t>peak</a:t>
                      </a:r>
                      <a:r>
                        <a:rPr sz="1100" b="0" i="0">
                          <a:latin typeface="Times New Roman"/>
                        </a:rPr>
                        <a:t>/1.25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latin typeface="Times New Roman"/>
                        </a:rPr>
                        <a:t>Temperature, soiling (s) and inverter limit; driven by ERA5 reanalysis, not the forecasts</a:t>
                      </a:r>
                    </a:p>
                  </a:txBody>
                  <a:tcPr marL="43200" marR="43200" marT="18000" marB="18000" anchor="ctr"/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100" b="1">
                          <a:latin typeface="Times New Roman"/>
                        </a:rPr>
                        <a:t>F14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latin typeface="Times New Roman"/>
                        </a:rPr>
                        <a:t>Comparison rule (results)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latin typeface="Times New Roman"/>
                        </a:rPr>
                        <a:t>“better” only if  | mean</a:t>
                      </a:r>
                      <a:r>
                        <a:rPr sz="990" b="0" i="0" baseline="-25000">
                          <a:latin typeface="Times New Roman"/>
                        </a:rPr>
                        <a:t>A</a:t>
                      </a:r>
                      <a:r>
                        <a:rPr sz="1100" b="0" i="0">
                          <a:latin typeface="Times New Roman"/>
                        </a:rPr>
                        <a:t> − mean</a:t>
                      </a:r>
                      <a:r>
                        <a:rPr sz="990" b="0" i="0" baseline="-25000">
                          <a:latin typeface="Times New Roman"/>
                        </a:rPr>
                        <a:t>B</a:t>
                      </a:r>
                      <a:r>
                        <a:rPr sz="1100" b="0" i="0">
                          <a:latin typeface="Times New Roman"/>
                        </a:rPr>
                        <a:t> | &gt; 2·max(σ</a:t>
                      </a:r>
                      <a:r>
                        <a:rPr sz="990" b="0" i="0" baseline="-25000">
                          <a:latin typeface="Times New Roman"/>
                        </a:rPr>
                        <a:t>A</a:t>
                      </a:r>
                      <a:r>
                        <a:rPr sz="1100" b="0" i="0">
                          <a:latin typeface="Times New Roman"/>
                        </a:rPr>
                        <a:t>, σ</a:t>
                      </a:r>
                      <a:r>
                        <a:rPr sz="990" b="0" i="0" baseline="-25000">
                          <a:latin typeface="Times New Roman"/>
                        </a:rPr>
                        <a:t>B</a:t>
                      </a:r>
                      <a:r>
                        <a:rPr sz="1100" b="0" i="0">
                          <a:latin typeface="Times New Roman"/>
                        </a:rPr>
                        <a:t>)</a:t>
                      </a:r>
                    </a:p>
                  </a:txBody>
                  <a:tcPr marL="43200" marR="43200" marT="18000" marB="18000" anchor="ctr"/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latin typeface="Times New Roman"/>
                        </a:rPr>
                        <a:t>A win is claimed only beyond about two run-to-run standard deviations</a:t>
                      </a:r>
                    </a:p>
                  </a:txBody>
                  <a:tcPr marL="43200" marR="43200" marT="18000" marB="180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000" y="503999"/>
            <a:ext cx="10512000" cy="576000"/>
          </a:xfrm>
        </p:spPr>
        <p:txBody>
          <a:bodyPr/>
          <a:lstStyle/>
          <a:p>
            <a:r>
              <a:rPr sz="3000" b="1">
                <a:latin typeface="Times New Roman"/>
              </a:rPr>
              <a:t>Experiments and Results (2/2): What Helped and Calibration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6562-4E3F-4038-A291-A7AE35CC3E6A}" type="datetime1">
              <a:rPr lang="en-IN" smtClean="0"/>
              <a:t>05/10/26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</a:t>
            </a:fld>
            <a:endParaRPr lang="en-IN"/>
          </a:p>
        </p:txBody>
      </p:sp>
      <p:pic>
        <p:nvPicPr>
          <p:cNvPr id="10" name="Picture 9" descr="fig_7_3_model_develop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1434857"/>
            <a:ext cx="4104000" cy="1954285"/>
          </a:xfrm>
          <a:prstGeom prst="rect">
            <a:avLst/>
          </a:prstGeom>
        </p:spPr>
      </p:pic>
      <p:pic>
        <p:nvPicPr>
          <p:cNvPr id="11" name="Picture 10" descr="fig_7_4_ab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4000" y="1370215"/>
            <a:ext cx="4104000" cy="2083569"/>
          </a:xfrm>
          <a:prstGeom prst="rect">
            <a:avLst/>
          </a:prstGeom>
        </p:spPr>
      </p:pic>
      <p:pic>
        <p:nvPicPr>
          <p:cNvPr id="12" name="Picture 11" descr="fig_7_5_daytime_cover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8000" y="1426000"/>
            <a:ext cx="3671999" cy="19719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88000" y="3744000"/>
            <a:ext cx="11592000" cy="259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300"/>
              </a:spcBef>
            </a:pPr>
            <a:r>
              <a:rPr sz="1400" b="0" i="0">
                <a:latin typeface="Times New Roman"/>
              </a:rPr>
              <a:t>Development (Yorkshire): original learned gate 4.39 ± 0.20 → residual gate 4.12 → + last-step shortcut 3.83 → + EMA 3.70 ± 0.02 nRMSE (LightGBM 3.72).</a:t>
            </a:r>
          </a:p>
          <a:p>
            <a:pPr>
              <a:spcBef>
                <a:spcPts val="300"/>
              </a:spcBef>
            </a:pPr>
            <a:r>
              <a:rPr sz="1400" b="0" i="0">
                <a:latin typeface="Times New Roman"/>
              </a:rPr>
              <a:t>Ablations (switch one part off): only the dense expert loss clearly mattered (Winkler +8%, coverage 0.82 → 0.78); gate, temperature, fixed width, single expert, regime weights made no measurable difference.</a:t>
            </a:r>
          </a:p>
          <a:p>
            <a:pPr>
              <a:spcBef>
                <a:spcPts val="300"/>
              </a:spcBef>
            </a:pPr>
            <a:r>
              <a:rPr sz="1400" b="0" i="0">
                <a:latin typeface="Times New Roman"/>
              </a:rPr>
              <a:t>Calibration (F12): daytime coverage 0.67 → 0.79 (Yorkshire) and 0.73 → 0.80 (South West); simulated Vellore only 0.70 → 0.74.</a:t>
            </a:r>
          </a:p>
          <a:p>
            <a:pPr>
              <a:spcBef>
                <a:spcPts val="300"/>
              </a:spcBef>
            </a:pPr>
            <a:r>
              <a:rPr sz="1400" b="0" i="0">
                <a:latin typeface="Times New Roman"/>
              </a:rPr>
              <a:t>Backtest 1–16 Oct 2026: daylight MAE 42 MW vs 147 MW for day-ahead persistence (3.5× better). Vellore results are simulated (single run), not real-world accuracy.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376</Words>
  <Application>Microsoft Macintosh PowerPoint</Application>
  <PresentationFormat>Custom</PresentationFormat>
  <Paragraphs>98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&lt;&lt;Programme B.Tech/ M.Tech Course Code – Course Title&gt;&gt; &lt;&lt;Project Title&gt;&gt;</vt:lpstr>
      <vt:lpstr>Approval Mail From Guide</vt:lpstr>
      <vt:lpstr>Aim</vt:lpstr>
      <vt:lpstr>Abstract</vt:lpstr>
      <vt:lpstr>Literature Review</vt:lpstr>
      <vt:lpstr>Research Gap</vt:lpstr>
      <vt:lpstr>Objectives</vt:lpstr>
      <vt:lpstr>Framework/Architecture/Block Diagram</vt:lpstr>
      <vt:lpstr>Functional Requirements</vt:lpstr>
      <vt:lpstr>Modules</vt:lpstr>
      <vt:lpstr>Experiments and Results</vt:lpstr>
      <vt:lpstr>Conclusion and Future Work</vt:lpstr>
      <vt:lpstr>Outcome Achieved</vt:lpstr>
      <vt:lpstr>References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&lt;&lt;Programme B.Tech/ M.Tech Course Code – Course Title&gt;&gt; &lt;&lt;Project Title&gt;&gt;</dc:title>
  <dc:creator>Parthasarathy G</dc:creator>
  <cp:lastModifiedBy>Prakash Mohan</cp:lastModifiedBy>
  <cp:revision>12</cp:revision>
  <dcterms:created xsi:type="dcterms:W3CDTF">2026-07-14T06:00:41Z</dcterms:created>
  <dcterms:modified xsi:type="dcterms:W3CDTF">2026-10-05T06:25:49Z</dcterms:modified>
</cp:coreProperties>
</file>